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image" Target="../media/image-6-21.png"/><Relationship Id="rId22" Type="http://schemas.openxmlformats.org/officeDocument/2006/relationships/image" Target="../media/image-6-22.png"/><Relationship Id="rId23" Type="http://schemas.openxmlformats.org/officeDocument/2006/relationships/image" Target="../media/image-6-23.png"/><Relationship Id="rId24" Type="http://schemas.openxmlformats.org/officeDocument/2006/relationships/image" Target="../media/image-6-24.png"/><Relationship Id="rId25" Type="http://schemas.openxmlformats.org/officeDocument/2006/relationships/image" Target="../media/image-6-25.png"/><Relationship Id="rId26" Type="http://schemas.openxmlformats.org/officeDocument/2006/relationships/image" Target="../media/image-6-26.png"/><Relationship Id="rId27" Type="http://schemas.openxmlformats.org/officeDocument/2006/relationships/image" Target="../media/image-6-27.png"/><Relationship Id="rId28" Type="http://schemas.openxmlformats.org/officeDocument/2006/relationships/image" Target="../media/image-6-28.png"/><Relationship Id="rId29" Type="http://schemas.openxmlformats.org/officeDocument/2006/relationships/image" Target="../media/image-6-29.png"/><Relationship Id="rId30" Type="http://schemas.openxmlformats.org/officeDocument/2006/relationships/image" Target="../media/image-6-30.png"/><Relationship Id="rId31" Type="http://schemas.openxmlformats.org/officeDocument/2006/relationships/image" Target="../media/image-6-31.png"/><Relationship Id="rId32" Type="http://schemas.openxmlformats.org/officeDocument/2006/relationships/image" Target="../media/image-6-32.png"/><Relationship Id="rId33" Type="http://schemas.openxmlformats.org/officeDocument/2006/relationships/image" Target="../media/image-6-33.png"/><Relationship Id="rId34" Type="http://schemas.openxmlformats.org/officeDocument/2006/relationships/image" Target="../media/image-6-34.png"/><Relationship Id="rId35" Type="http://schemas.openxmlformats.org/officeDocument/2006/relationships/image" Target="../media/image-6-35.png"/><Relationship Id="rId36" Type="http://schemas.openxmlformats.org/officeDocument/2006/relationships/image" Target="../media/image-6-36.png"/><Relationship Id="rId37" Type="http://schemas.openxmlformats.org/officeDocument/2006/relationships/slideLayout" Target="../slideLayouts/slideLayout1.xml"/><Relationship Id="rId3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png"/><Relationship Id="rId17" Type="http://schemas.openxmlformats.org/officeDocument/2006/relationships/image" Target="../media/image-13-17.png"/><Relationship Id="rId18" Type="http://schemas.openxmlformats.org/officeDocument/2006/relationships/image" Target="../media/image-13-18.png"/><Relationship Id="rId19" Type="http://schemas.openxmlformats.org/officeDocument/2006/relationships/image" Target="../media/image-13-19.png"/><Relationship Id="rId20" Type="http://schemas.openxmlformats.org/officeDocument/2006/relationships/image" Target="../media/image-13-20.png"/><Relationship Id="rId21" Type="http://schemas.openxmlformats.org/officeDocument/2006/relationships/image" Target="../media/image-13-21.png"/><Relationship Id="rId22" Type="http://schemas.openxmlformats.org/officeDocument/2006/relationships/image" Target="../media/image-13-22.png"/><Relationship Id="rId23" Type="http://schemas.openxmlformats.org/officeDocument/2006/relationships/image" Target="../media/image-13-23.png"/><Relationship Id="rId24" Type="http://schemas.openxmlformats.org/officeDocument/2006/relationships/image" Target="../media/image-13-24.png"/><Relationship Id="rId25" Type="http://schemas.openxmlformats.org/officeDocument/2006/relationships/image" Target="../media/image-13-25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4067251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10000"/>
          </a:blip>
          <a:srcRect l="-9307" r="-9307" t="0" b="0"/>
          <a:stretch/>
        </p:blipFill>
        <p:spPr>
          <a:xfrm>
            <a:off x="0" y="0"/>
            <a:ext cx="4067251" cy="6858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063594" y="0"/>
            <a:ext cx="813450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972800" y="0"/>
            <a:ext cx="1218895" cy="1218895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57200" y="457200"/>
            <a:ext cx="32671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Promotion Review 2026</a:t>
            </a:r>
            <a:endParaRPr lang="en-US" sz="9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00" b="-400"/>
          <a:stretch/>
        </p:blipFill>
        <p:spPr>
          <a:xfrm>
            <a:off x="457200" y="685800"/>
            <a:ext cx="457200" cy="19202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457200" y="2257654"/>
            <a:ext cx="381305" cy="381305"/>
          </a:xfrm>
          <a:prstGeom prst="ellipse">
            <a:avLst/>
          </a:prstGeom>
          <a:noFill/>
          <a:ln w="12700">
            <a:solidFill>
              <a:srgbClr val="4B5563"/>
            </a:solidFill>
            <a:prstDash val="solid"/>
          </a:ln>
        </p:spPr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rcRect l="-1064" r="-1064" t="0" b="0"/>
          <a:stretch/>
        </p:blipFill>
        <p:spPr>
          <a:xfrm>
            <a:off x="538582" y="2361895"/>
            <a:ext cx="219456" cy="171907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952805" y="2352751"/>
            <a:ext cx="16212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Leadership</a:t>
            </a:r>
            <a:endParaRPr lang="en-US" sz="1000" dirty="0"/>
          </a:p>
        </p:txBody>
      </p:sp>
      <p:sp>
        <p:nvSpPr>
          <p:cNvPr id="13" name="Text 6"/>
          <p:cNvSpPr txBox="1"/>
          <p:nvPr/>
        </p:nvSpPr>
        <p:spPr>
          <a:xfrm>
            <a:off x="457200" y="2866644"/>
            <a:ext cx="326075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3F4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Engineering Excellence in Sustainability</a:t>
            </a:r>
            <a:endParaRPr lang="en-US" sz="2200" dirty="0"/>
          </a:p>
        </p:txBody>
      </p:sp>
      <p:sp>
        <p:nvSpPr>
          <p:cNvPr id="14" name="Text 7"/>
          <p:cNvSpPr txBox="1"/>
          <p:nvPr/>
        </p:nvSpPr>
        <p:spPr>
          <a:xfrm>
            <a:off x="457200" y="3804818"/>
            <a:ext cx="31245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Showcasing contributions to enterprise-scale ESG data infrastructure and reliability.</a:t>
            </a:r>
            <a:endParaRPr lang="en-US" sz="1000" dirty="0"/>
          </a:p>
        </p:txBody>
      </p:sp>
      <p:sp>
        <p:nvSpPr>
          <p:cNvPr id="15" name="Text 8"/>
          <p:cNvSpPr txBox="1"/>
          <p:nvPr/>
        </p:nvSpPr>
        <p:spPr>
          <a:xfrm>
            <a:off x="457200" y="6248095"/>
            <a:ext cx="32671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6" name="Shape 9"/>
          <p:cNvSpPr/>
          <p:nvPr/>
        </p:nvSpPr>
        <p:spPr>
          <a:xfrm>
            <a:off x="4949647" y="863194"/>
            <a:ext cx="75895" cy="75895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0"/>
          <p:cNvSpPr txBox="1"/>
          <p:nvPr/>
        </p:nvSpPr>
        <p:spPr>
          <a:xfrm>
            <a:off x="5102352" y="824789"/>
            <a:ext cx="13624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Showcase</a:t>
            </a:r>
            <a:endParaRPr lang="en-US" sz="900" dirty="0"/>
          </a:p>
        </p:txBody>
      </p:sp>
      <p:sp>
        <p:nvSpPr>
          <p:cNvPr id="18" name="Text 11"/>
          <p:cNvSpPr txBox="1"/>
          <p:nvPr/>
        </p:nvSpPr>
        <p:spPr>
          <a:xfrm>
            <a:off x="4826203" y="1329538"/>
            <a:ext cx="6801307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Vantage</a:t>
            </a:r>
            <a:endParaRPr lang="en-US" sz="4500" dirty="0"/>
          </a:p>
        </p:txBody>
      </p:sp>
      <p:sp>
        <p:nvSpPr>
          <p:cNvPr id="19" name="Text 12"/>
          <p:cNvSpPr txBox="1"/>
          <p:nvPr/>
        </p:nvSpPr>
        <p:spPr>
          <a:xfrm>
            <a:off x="4826203" y="2196389"/>
            <a:ext cx="67254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ESG Analytics Platform</a:t>
            </a:r>
            <a:endParaRPr lang="en-US" sz="2200" dirty="0"/>
          </a:p>
        </p:txBody>
      </p:sp>
      <p:sp>
        <p:nvSpPr>
          <p:cNvPr id="20" name="Shape 13"/>
          <p:cNvSpPr/>
          <p:nvPr/>
        </p:nvSpPr>
        <p:spPr>
          <a:xfrm>
            <a:off x="4826203" y="2920594"/>
            <a:ext cx="38405" cy="83850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5093208" y="2920594"/>
            <a:ext cx="6420002" cy="8385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Vantage is GIC’s </a:t>
            </a:r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sustainability analytics platform</a:t>
            </a:r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designed to compute ESG metrics such as WACI, WAGR, CVaR, and PR across large multi-year portfolios. 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5111496" y="4137660"/>
            <a:ext cx="64008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It acts as a </a:t>
            </a:r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sustainability datamart</a:t>
            </a:r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that powers analytics, benchmarking, and reporting workflows used across multiple business functions. 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4826203" y="5242255"/>
            <a:ext cx="6610198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4826203" y="5556809"/>
            <a:ext cx="102687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45.5 TB</a:t>
            </a:r>
            <a:endParaRPr lang="en-US" sz="18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2029" b="-2029"/>
          <a:stretch/>
        </p:blipFill>
        <p:spPr>
          <a:xfrm>
            <a:off x="5997550" y="5671109"/>
            <a:ext cx="9144" cy="304495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312103" y="5556809"/>
            <a:ext cx="13908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7+ Years</a:t>
            </a:r>
            <a:endParaRPr lang="en-US" sz="18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2029" b="-2029"/>
          <a:stretch/>
        </p:blipFill>
        <p:spPr>
          <a:xfrm>
            <a:off x="7927848" y="5671109"/>
            <a:ext cx="9144" cy="304495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8242402" y="5556809"/>
            <a:ext cx="12198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10+</a:t>
            </a:r>
            <a:endParaRPr lang="en-US" sz="1800" dirty="0"/>
          </a:p>
        </p:txBody>
      </p:sp>
      <p:sp>
        <p:nvSpPr>
          <p:cNvPr id="29" name="Shape 20"/>
          <p:cNvSpPr/>
          <p:nvPr/>
        </p:nvSpPr>
        <p:spPr>
          <a:xfrm>
            <a:off x="4826203" y="777240"/>
            <a:ext cx="1686154" cy="247802"/>
          </a:xfrm>
          <a:prstGeom prst="roundRect">
            <a:avLst>
              <a:gd name="adj" fmla="val 369004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43" b="-43"/>
          <a:stretch/>
        </p:blipFill>
        <p:spPr>
          <a:xfrm>
            <a:off x="4826203" y="4213555"/>
            <a:ext cx="133502" cy="152705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4826203" y="5918911"/>
            <a:ext cx="8961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2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Size</a:t>
            </a:r>
            <a:endParaRPr lang="en-US" sz="900" dirty="0"/>
          </a:p>
        </p:txBody>
      </p:sp>
      <p:sp>
        <p:nvSpPr>
          <p:cNvPr id="32" name="Text 22"/>
          <p:cNvSpPr txBox="1"/>
          <p:nvPr/>
        </p:nvSpPr>
        <p:spPr>
          <a:xfrm>
            <a:off x="6312103" y="5918911"/>
            <a:ext cx="140726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2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Historical ESG Data</a:t>
            </a:r>
            <a:endParaRPr lang="en-US" sz="900" dirty="0"/>
          </a:p>
        </p:txBody>
      </p:sp>
      <p:sp>
        <p:nvSpPr>
          <p:cNvPr id="33" name="Text 23"/>
          <p:cNvSpPr txBox="1"/>
          <p:nvPr/>
        </p:nvSpPr>
        <p:spPr>
          <a:xfrm>
            <a:off x="8242402" y="5918911"/>
            <a:ext cx="12198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2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Depts Supported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3047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10000"/>
          </a:blip>
          <a:srcRect l="-38880" r="-38880" t="0" b="0"/>
          <a:stretch/>
        </p:blipFill>
        <p:spPr>
          <a:xfrm>
            <a:off x="0" y="0"/>
            <a:ext cx="3047695" cy="6858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047695" y="0"/>
            <a:ext cx="9144000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3504895" y="466344"/>
            <a:ext cx="1876349" cy="247802"/>
          </a:xfrm>
          <a:prstGeom prst="roundRect">
            <a:avLst>
              <a:gd name="adj" fmla="val 369004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3629254" y="552298"/>
            <a:ext cx="75895" cy="75895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3781044" y="514807"/>
            <a:ext cx="15526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Consumer Ecosystem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3504895" y="866851"/>
            <a:ext cx="84207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Who Depends on Vantage?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3504895" y="1410005"/>
            <a:ext cx="830641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Vantage serves as the enterprise-wide golden source for critical ESG data used in client reporting, sustainability analytics and climate risk governance across GIC.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504895" y="2348179"/>
            <a:ext cx="4000500" cy="1438351"/>
          </a:xfrm>
          <a:prstGeom prst="roundRect">
            <a:avLst>
              <a:gd name="adj" fmla="val 505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743554" y="2797150"/>
            <a:ext cx="533095" cy="533095"/>
          </a:xfrm>
          <a:prstGeom prst="roundRect">
            <a:avLst>
              <a:gd name="adj" fmla="val 24504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45" b="-45"/>
          <a:stretch/>
        </p:blipFill>
        <p:spPr>
          <a:xfrm>
            <a:off x="3881628" y="2948940"/>
            <a:ext cx="256946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466844" y="2797150"/>
            <a:ext cx="263530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RPMD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466844" y="3101645"/>
            <a:ext cx="30156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Sustainability analytics &amp; reporting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733995" y="2348179"/>
            <a:ext cx="4000500" cy="1438351"/>
          </a:xfrm>
          <a:prstGeom prst="roundRect">
            <a:avLst>
              <a:gd name="adj" fmla="val 505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24444" y="2948940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695944" y="2797150"/>
            <a:ext cx="23920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Sustainability Office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8695944" y="3101645"/>
            <a:ext cx="22750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ESG governance workflows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3504895" y="4007815"/>
            <a:ext cx="4000500" cy="1666951"/>
          </a:xfrm>
          <a:prstGeom prst="roundRect">
            <a:avLst>
              <a:gd name="adj" fmla="val 37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3743554" y="4571086"/>
            <a:ext cx="533095" cy="533095"/>
          </a:xfrm>
          <a:prstGeom prst="roundRect">
            <a:avLst>
              <a:gd name="adj" fmla="val 24504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895344" y="4722876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466844" y="4571086"/>
            <a:ext cx="195864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Investment Teams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4466844" y="4875581"/>
            <a:ext cx="19888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(PE / RE / EMD / TPS)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7733995" y="4007815"/>
            <a:ext cx="4000500" cy="1666951"/>
          </a:xfrm>
          <a:prstGeom prst="roundRect">
            <a:avLst>
              <a:gd name="adj" fmla="val 37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7972654" y="4571086"/>
            <a:ext cx="533095" cy="533095"/>
          </a:xfrm>
          <a:prstGeom prst="roundRect">
            <a:avLst>
              <a:gd name="adj" fmla="val 24504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24444" y="4722876"/>
            <a:ext cx="228600" cy="22860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8695944" y="4456786"/>
            <a:ext cx="291236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&amp; Reporting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8695944" y="4761281"/>
            <a:ext cx="28767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 &amp; client reporting workflows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3504895" y="5971946"/>
            <a:ext cx="82296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3749954" y="6210605"/>
            <a:ext cx="49103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platform ensures consistent ESG metrics across departments. </a:t>
            </a:r>
            <a:endParaRPr lang="en-US" sz="10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3504895" y="6236208"/>
            <a:ext cx="133502" cy="133502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10385755" y="6229807"/>
            <a:ext cx="9720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GOLDEN SOURCE</a:t>
            </a:r>
            <a:endParaRPr lang="en-US" sz="90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rcRect l="-2127" r="-2127" t="0" b="0"/>
          <a:stretch/>
        </p:blipFill>
        <p:spPr>
          <a:xfrm>
            <a:off x="11354105" y="6301130"/>
            <a:ext cx="381305" cy="9144"/>
          </a:xfrm>
          <a:prstGeom prst="rect">
            <a:avLst/>
          </a:prstGeom>
        </p:spPr>
      </p:pic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450" b="-450"/>
          <a:stretch/>
        </p:blipFill>
        <p:spPr>
          <a:xfrm>
            <a:off x="381305" y="381305"/>
            <a:ext cx="304495" cy="19202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381305" y="552298"/>
            <a:ext cx="23774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&amp; Reach</a:t>
            </a:r>
            <a:endParaRPr lang="en-US" sz="900" dirty="0"/>
          </a:p>
        </p:txBody>
      </p:sp>
      <p:sp>
        <p:nvSpPr>
          <p:cNvPr id="38" name="Text 27"/>
          <p:cNvSpPr txBox="1"/>
          <p:nvPr/>
        </p:nvSpPr>
        <p:spPr>
          <a:xfrm>
            <a:off x="381305" y="5076749"/>
            <a:ext cx="237195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Enterprise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Dependencies </a:t>
            </a:r>
            <a:endParaRPr lang="en-US" sz="1800" dirty="0"/>
          </a:p>
        </p:txBody>
      </p:sp>
      <p:sp>
        <p:nvSpPr>
          <p:cNvPr id="39" name="Shape 28"/>
          <p:cNvSpPr/>
          <p:nvPr/>
        </p:nvSpPr>
        <p:spPr>
          <a:xfrm>
            <a:off x="381305" y="5800954"/>
            <a:ext cx="19202" cy="37124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40" name="Text 29"/>
          <p:cNvSpPr txBox="1"/>
          <p:nvPr/>
        </p:nvSpPr>
        <p:spPr>
          <a:xfrm>
            <a:off x="514807" y="5800954"/>
            <a:ext cx="2229307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Serving as the single source of truth for ESG data across the organization.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3047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10000"/>
          </a:blip>
          <a:srcRect l="-38880" r="-38880" t="0" b="0"/>
          <a:stretch/>
        </p:blipFill>
        <p:spPr>
          <a:xfrm>
            <a:off x="0" y="0"/>
            <a:ext cx="3047695" cy="6858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047695" y="0"/>
            <a:ext cx="9144000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3504895" y="466344"/>
            <a:ext cx="1904695" cy="247802"/>
          </a:xfrm>
          <a:prstGeom prst="roundRect">
            <a:avLst>
              <a:gd name="adj" fmla="val 369004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3629254" y="552298"/>
            <a:ext cx="75895" cy="75895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3781044" y="514807"/>
            <a:ext cx="15819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 Scale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3504895" y="866851"/>
            <a:ext cx="84207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Scale of the Vantage Platform</a:t>
            </a:r>
            <a:endParaRPr lang="en-US" sz="2700" dirty="0"/>
          </a:p>
        </p:txBody>
      </p:sp>
      <p:sp>
        <p:nvSpPr>
          <p:cNvPr id="11" name="Text 7"/>
          <p:cNvSpPr txBox="1"/>
          <p:nvPr/>
        </p:nvSpPr>
        <p:spPr>
          <a:xfrm>
            <a:off x="3504895" y="1410005"/>
            <a:ext cx="8001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centralized datamart powering sustainability analytics across the entire organization.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504895" y="1981505"/>
            <a:ext cx="2590495" cy="2095805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>
            <a:alphaModFix amt="10000"/>
          </a:blip>
          <a:srcRect l="-469" r="-469" t="0" b="0"/>
          <a:stretch/>
        </p:blipFill>
        <p:spPr>
          <a:xfrm>
            <a:off x="5429707" y="2143354"/>
            <a:ext cx="504749" cy="5715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705149" y="2180844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810305" y="2286000"/>
            <a:ext cx="171907" cy="17190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705149" y="2676449"/>
            <a:ext cx="227868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Dataset</a:t>
            </a:r>
            <a:endParaRPr lang="en-US" sz="900" dirty="0"/>
          </a:p>
        </p:txBody>
      </p:sp>
      <p:sp>
        <p:nvSpPr>
          <p:cNvPr id="17" name="Text 11"/>
          <p:cNvSpPr txBox="1"/>
          <p:nvPr/>
        </p:nvSpPr>
        <p:spPr>
          <a:xfrm>
            <a:off x="3705149" y="2866644"/>
            <a:ext cx="227868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45.5 </a:t>
            </a:r>
            <a:pPr algn="l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TB</a:t>
            </a:r>
            <a:endParaRPr lang="en-US" sz="2200" dirty="0"/>
          </a:p>
        </p:txBody>
      </p:sp>
      <p:sp>
        <p:nvSpPr>
          <p:cNvPr id="18" name="Shape 12"/>
          <p:cNvSpPr/>
          <p:nvPr/>
        </p:nvSpPr>
        <p:spPr>
          <a:xfrm>
            <a:off x="3705149" y="3438144"/>
            <a:ext cx="2190902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3705149" y="3562502"/>
            <a:ext cx="22677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High-volume storage for granular ESG data points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6324905" y="1981505"/>
            <a:ext cx="2590495" cy="2095805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>
            <a:alphaModFix amt="10000"/>
          </a:blip>
          <a:srcRect l="0" r="0" t="0" b="0"/>
          <a:stretch/>
        </p:blipFill>
        <p:spPr>
          <a:xfrm>
            <a:off x="8182051" y="2143354"/>
            <a:ext cx="571500" cy="57150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6524244" y="2180844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629400" y="2286000"/>
            <a:ext cx="171907" cy="171907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524244" y="2676449"/>
            <a:ext cx="227868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Historical Depth</a:t>
            </a:r>
            <a:endParaRPr lang="en-US" sz="900" dirty="0"/>
          </a:p>
        </p:txBody>
      </p:sp>
      <p:sp>
        <p:nvSpPr>
          <p:cNvPr id="25" name="Text 17"/>
          <p:cNvSpPr txBox="1"/>
          <p:nvPr/>
        </p:nvSpPr>
        <p:spPr>
          <a:xfrm>
            <a:off x="6524244" y="2866644"/>
            <a:ext cx="227868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7+ </a:t>
            </a:r>
            <a:pPr algn="l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Years</a:t>
            </a:r>
            <a:endParaRPr lang="en-US" sz="2200" dirty="0"/>
          </a:p>
        </p:txBody>
      </p:sp>
      <p:sp>
        <p:nvSpPr>
          <p:cNvPr id="26" name="Shape 18"/>
          <p:cNvSpPr/>
          <p:nvPr/>
        </p:nvSpPr>
        <p:spPr>
          <a:xfrm>
            <a:off x="6524244" y="3438144"/>
            <a:ext cx="2190902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6524244" y="3562502"/>
            <a:ext cx="22677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historical computation for trend analysis</a:t>
            </a:r>
            <a:endParaRPr lang="en-US" sz="900" dirty="0"/>
          </a:p>
        </p:txBody>
      </p:sp>
      <p:sp>
        <p:nvSpPr>
          <p:cNvPr id="28" name="Shape 20"/>
          <p:cNvSpPr/>
          <p:nvPr/>
        </p:nvSpPr>
        <p:spPr>
          <a:xfrm>
            <a:off x="9144000" y="1981505"/>
            <a:ext cx="2590495" cy="2095805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>
            <a:alphaModFix amt="10000"/>
          </a:blip>
          <a:srcRect l="-347" r="-347" t="0" b="0"/>
          <a:stretch/>
        </p:blipFill>
        <p:spPr>
          <a:xfrm>
            <a:off x="10925251" y="2143354"/>
            <a:ext cx="647395" cy="571500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9344254" y="2180844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842" b="-842"/>
          <a:stretch/>
        </p:blipFill>
        <p:spPr>
          <a:xfrm>
            <a:off x="9439351" y="2286000"/>
            <a:ext cx="190195" cy="171907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9344254" y="2676449"/>
            <a:ext cx="227868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ESG Modules</a:t>
            </a:r>
            <a:endParaRPr lang="en-US" sz="900" dirty="0"/>
          </a:p>
        </p:txBody>
      </p:sp>
      <p:sp>
        <p:nvSpPr>
          <p:cNvPr id="33" name="Text 23"/>
          <p:cNvSpPr txBox="1"/>
          <p:nvPr/>
        </p:nvSpPr>
        <p:spPr>
          <a:xfrm>
            <a:off x="9344254" y="2866644"/>
            <a:ext cx="227868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</a:t>
            </a:r>
            <a:pPr algn="l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</a:t>
            </a:r>
            <a:endParaRPr lang="en-US" sz="2200" dirty="0"/>
          </a:p>
        </p:txBody>
      </p:sp>
      <p:sp>
        <p:nvSpPr>
          <p:cNvPr id="34" name="Shape 24"/>
          <p:cNvSpPr/>
          <p:nvPr/>
        </p:nvSpPr>
        <p:spPr>
          <a:xfrm>
            <a:off x="9344254" y="3438144"/>
            <a:ext cx="2190902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35" name="Text 25"/>
          <p:cNvSpPr txBox="1"/>
          <p:nvPr/>
        </p:nvSpPr>
        <p:spPr>
          <a:xfrm>
            <a:off x="9344254" y="3562502"/>
            <a:ext cx="22677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Covering WACI, WAGR, CVaR, and PR metrics</a:t>
            </a:r>
            <a:endParaRPr lang="en-US" sz="900" dirty="0"/>
          </a:p>
        </p:txBody>
      </p:sp>
      <p:sp>
        <p:nvSpPr>
          <p:cNvPr id="36" name="Shape 26"/>
          <p:cNvSpPr/>
          <p:nvPr/>
        </p:nvSpPr>
        <p:spPr>
          <a:xfrm>
            <a:off x="3504895" y="4304995"/>
            <a:ext cx="2590495" cy="2095805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>
            <a:alphaModFix amt="10000"/>
          </a:blip>
          <a:srcRect l="0" r="0" t="-16" b="-16"/>
          <a:stretch/>
        </p:blipFill>
        <p:spPr>
          <a:xfrm>
            <a:off x="5219395" y="4466844"/>
            <a:ext cx="714146" cy="571500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3705149" y="4505249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rcRect l="-1773" r="-1773" t="0" b="0"/>
          <a:stretch/>
        </p:blipFill>
        <p:spPr>
          <a:xfrm>
            <a:off x="3829507" y="4610405"/>
            <a:ext cx="133502" cy="171907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3705149" y="5000854"/>
            <a:ext cx="227868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Consumers</a:t>
            </a:r>
            <a:endParaRPr lang="en-US" sz="900" dirty="0"/>
          </a:p>
        </p:txBody>
      </p:sp>
      <p:sp>
        <p:nvSpPr>
          <p:cNvPr id="41" name="Text 29"/>
          <p:cNvSpPr txBox="1"/>
          <p:nvPr/>
        </p:nvSpPr>
        <p:spPr>
          <a:xfrm>
            <a:off x="3705149" y="5191049"/>
            <a:ext cx="227868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10+ </a:t>
            </a:r>
            <a:pPr algn="l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Depts</a:t>
            </a:r>
            <a:endParaRPr lang="en-US" sz="2200" dirty="0"/>
          </a:p>
        </p:txBody>
      </p:sp>
      <p:sp>
        <p:nvSpPr>
          <p:cNvPr id="42" name="Shape 30"/>
          <p:cNvSpPr/>
          <p:nvPr/>
        </p:nvSpPr>
        <p:spPr>
          <a:xfrm>
            <a:off x="3705149" y="5762549"/>
            <a:ext cx="2190902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43" name="Text 31"/>
          <p:cNvSpPr txBox="1"/>
          <p:nvPr/>
        </p:nvSpPr>
        <p:spPr>
          <a:xfrm>
            <a:off x="3705149" y="5886907"/>
            <a:ext cx="22677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Enterprise-wide consumption (Investment &amp; Sustainability)</a:t>
            </a:r>
            <a:endParaRPr lang="en-US" sz="900" dirty="0"/>
          </a:p>
        </p:txBody>
      </p:sp>
      <p:sp>
        <p:nvSpPr>
          <p:cNvPr id="44" name="Shape 32"/>
          <p:cNvSpPr/>
          <p:nvPr/>
        </p:nvSpPr>
        <p:spPr>
          <a:xfrm>
            <a:off x="6324905" y="4304995"/>
            <a:ext cx="2590495" cy="2095805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>
            <a:alphaModFix amt="10000"/>
          </a:blip>
          <a:srcRect l="0" r="0" t="0" b="0"/>
          <a:stretch/>
        </p:blipFill>
        <p:spPr>
          <a:xfrm>
            <a:off x="8182051" y="4466844"/>
            <a:ext cx="571500" cy="571500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6524244" y="4505249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7" name="Image 11" descr="preencoded.png">    </p:cNvPr>
          <p:cNvPicPr>
            <a:picLocks noChangeAspect="1"/>
          </p:cNvPicPr>
          <p:nvPr/>
        </p:nvPicPr>
        <p:blipFill>
          <a:blip r:embed="rId12"/>
          <a:srcRect l="-760" r="-760" t="0" b="0"/>
          <a:stretch/>
        </p:blipFill>
        <p:spPr>
          <a:xfrm>
            <a:off x="6638544" y="4610405"/>
            <a:ext cx="152705" cy="171907"/>
          </a:xfrm>
          <a:prstGeom prst="rect">
            <a:avLst/>
          </a:prstGeom>
        </p:spPr>
      </p:pic>
      <p:sp>
        <p:nvSpPr>
          <p:cNvPr id="48" name="Text 34"/>
          <p:cNvSpPr txBox="1"/>
          <p:nvPr/>
        </p:nvSpPr>
        <p:spPr>
          <a:xfrm>
            <a:off x="6524244" y="5000854"/>
            <a:ext cx="227868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Tests</a:t>
            </a:r>
            <a:endParaRPr lang="en-US" sz="900" dirty="0"/>
          </a:p>
        </p:txBody>
      </p:sp>
      <p:sp>
        <p:nvSpPr>
          <p:cNvPr id="49" name="Text 35"/>
          <p:cNvSpPr txBox="1"/>
          <p:nvPr/>
        </p:nvSpPr>
        <p:spPr>
          <a:xfrm>
            <a:off x="6524244" y="5191049"/>
            <a:ext cx="227868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1,200+ </a:t>
            </a:r>
            <a:pPr algn="l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Cases</a:t>
            </a:r>
            <a:endParaRPr lang="en-US" sz="2200" dirty="0"/>
          </a:p>
        </p:txBody>
      </p:sp>
      <p:sp>
        <p:nvSpPr>
          <p:cNvPr id="50" name="Shape 36"/>
          <p:cNvSpPr/>
          <p:nvPr/>
        </p:nvSpPr>
        <p:spPr>
          <a:xfrm>
            <a:off x="6524244" y="5762549"/>
            <a:ext cx="2190902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51" name="Text 37"/>
          <p:cNvSpPr txBox="1"/>
          <p:nvPr/>
        </p:nvSpPr>
        <p:spPr>
          <a:xfrm>
            <a:off x="6524244" y="5886907"/>
            <a:ext cx="22677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Rigorous regression testing ensuring data accuracy</a:t>
            </a:r>
            <a:endParaRPr lang="en-US" sz="900" dirty="0"/>
          </a:p>
        </p:txBody>
      </p:sp>
      <p:sp>
        <p:nvSpPr>
          <p:cNvPr id="52" name="Shape 38"/>
          <p:cNvSpPr/>
          <p:nvPr/>
        </p:nvSpPr>
        <p:spPr>
          <a:xfrm>
            <a:off x="9144000" y="4304995"/>
            <a:ext cx="2590495" cy="2095805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53" name="Image 12" descr="preencoded.png">    </p:cNvPr>
          <p:cNvPicPr>
            <a:picLocks noChangeAspect="1"/>
          </p:cNvPicPr>
          <p:nvPr/>
        </p:nvPicPr>
        <p:blipFill>
          <a:blip r:embed="rId13">
            <a:alphaModFix amt="10000"/>
          </a:blip>
          <a:srcRect l="0" r="0" t="0" b="0"/>
          <a:stretch/>
        </p:blipFill>
        <p:spPr>
          <a:xfrm>
            <a:off x="11001146" y="4466844"/>
            <a:ext cx="571500" cy="571500"/>
          </a:xfrm>
          <a:prstGeom prst="rect">
            <a:avLst/>
          </a:prstGeom>
        </p:spPr>
      </p:pic>
      <p:sp>
        <p:nvSpPr>
          <p:cNvPr id="54" name="Shape 39"/>
          <p:cNvSpPr/>
          <p:nvPr/>
        </p:nvSpPr>
        <p:spPr>
          <a:xfrm>
            <a:off x="9344254" y="4505249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5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9448495" y="4610405"/>
            <a:ext cx="171907" cy="171907"/>
          </a:xfrm>
          <a:prstGeom prst="rect">
            <a:avLst/>
          </a:prstGeom>
        </p:spPr>
      </p:pic>
      <p:sp>
        <p:nvSpPr>
          <p:cNvPr id="56" name="Text 40"/>
          <p:cNvSpPr txBox="1"/>
          <p:nvPr/>
        </p:nvSpPr>
        <p:spPr>
          <a:xfrm>
            <a:off x="9344254" y="5000854"/>
            <a:ext cx="227868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Asset Coverage</a:t>
            </a:r>
            <a:endParaRPr lang="en-US" sz="900" dirty="0"/>
          </a:p>
        </p:txBody>
      </p:sp>
      <p:sp>
        <p:nvSpPr>
          <p:cNvPr id="57" name="Text 41"/>
          <p:cNvSpPr txBox="1"/>
          <p:nvPr/>
        </p:nvSpPr>
        <p:spPr>
          <a:xfrm>
            <a:off x="9344254" y="5191049"/>
            <a:ext cx="227868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 </a:t>
            </a:r>
            <a:pPr algn="l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</a:t>
            </a:r>
            <a:endParaRPr lang="en-US" sz="2200" dirty="0"/>
          </a:p>
        </p:txBody>
      </p:sp>
      <p:sp>
        <p:nvSpPr>
          <p:cNvPr id="58" name="Shape 42"/>
          <p:cNvSpPr/>
          <p:nvPr/>
        </p:nvSpPr>
        <p:spPr>
          <a:xfrm>
            <a:off x="9344254" y="5762549"/>
            <a:ext cx="2190902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59" name="Text 43"/>
          <p:cNvSpPr txBox="1"/>
          <p:nvPr/>
        </p:nvSpPr>
        <p:spPr>
          <a:xfrm>
            <a:off x="9344254" y="5886907"/>
            <a:ext cx="22677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 Equity, Real Estate, EMD &amp; Public Strategies</a:t>
            </a:r>
            <a:endParaRPr lang="en-US" sz="900" dirty="0"/>
          </a:p>
        </p:txBody>
      </p:sp>
      <p:pic>
        <p:nvPicPr>
          <p:cNvPr id="60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-450" b="-450"/>
          <a:stretch/>
        </p:blipFill>
        <p:spPr>
          <a:xfrm>
            <a:off x="381305" y="381305"/>
            <a:ext cx="304495" cy="19202"/>
          </a:xfrm>
          <a:prstGeom prst="rect">
            <a:avLst/>
          </a:prstGeom>
        </p:spPr>
      </p:pic>
      <p:sp>
        <p:nvSpPr>
          <p:cNvPr id="61" name="Text 44"/>
          <p:cNvSpPr txBox="1"/>
          <p:nvPr/>
        </p:nvSpPr>
        <p:spPr>
          <a:xfrm>
            <a:off x="381305" y="552298"/>
            <a:ext cx="23774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Statistics</a:t>
            </a:r>
            <a:endParaRPr lang="en-US" sz="900" dirty="0"/>
          </a:p>
        </p:txBody>
      </p:sp>
      <p:sp>
        <p:nvSpPr>
          <p:cNvPr id="62" name="Text 45"/>
          <p:cNvSpPr txBox="1"/>
          <p:nvPr/>
        </p:nvSpPr>
        <p:spPr>
          <a:xfrm>
            <a:off x="381305" y="4891126"/>
            <a:ext cx="237195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By The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Numbers </a:t>
            </a:r>
            <a:endParaRPr lang="en-US" sz="1800" dirty="0"/>
          </a:p>
        </p:txBody>
      </p:sp>
      <p:sp>
        <p:nvSpPr>
          <p:cNvPr id="63" name="Shape 46"/>
          <p:cNvSpPr/>
          <p:nvPr/>
        </p:nvSpPr>
        <p:spPr>
          <a:xfrm>
            <a:off x="381305" y="5615330"/>
            <a:ext cx="19202" cy="56235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64" name="Text 47"/>
          <p:cNvSpPr txBox="1"/>
          <p:nvPr/>
        </p:nvSpPr>
        <p:spPr>
          <a:xfrm>
            <a:off x="514807" y="5615330"/>
            <a:ext cx="2229307" cy="5623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Engineered for enterprise scale, processing massive datasets with high reliability.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3047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10000"/>
          </a:blip>
          <a:srcRect l="-38880" r="-38880" t="0" b="0"/>
          <a:stretch/>
        </p:blipFill>
        <p:spPr>
          <a:xfrm>
            <a:off x="0" y="0"/>
            <a:ext cx="3047695" cy="6858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047695" y="0"/>
            <a:ext cx="9144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l="0" r="0" t="0" b="0"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50" b="-450"/>
          <a:stretch/>
        </p:blipFill>
        <p:spPr>
          <a:xfrm>
            <a:off x="381305" y="381305"/>
            <a:ext cx="304495" cy="19202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381305" y="552298"/>
            <a:ext cx="23774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Definition</a:t>
            </a:r>
            <a:endParaRPr lang="en-US" sz="900" dirty="0"/>
          </a:p>
        </p:txBody>
      </p:sp>
      <p:sp>
        <p:nvSpPr>
          <p:cNvPr id="10" name="Shape 4"/>
          <p:cNvSpPr/>
          <p:nvPr/>
        </p:nvSpPr>
        <p:spPr>
          <a:xfrm>
            <a:off x="381305" y="4543654"/>
            <a:ext cx="381305" cy="381305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80" b="-180"/>
          <a:stretch/>
        </p:blipFill>
        <p:spPr>
          <a:xfrm>
            <a:off x="476402" y="4657954"/>
            <a:ext cx="190195" cy="152705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381305" y="5076749"/>
            <a:ext cx="237195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Squad Lead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Responsibilities </a:t>
            </a:r>
            <a:endParaRPr lang="en-US" sz="1800" dirty="0"/>
          </a:p>
        </p:txBody>
      </p:sp>
      <p:sp>
        <p:nvSpPr>
          <p:cNvPr id="13" name="Shape 6"/>
          <p:cNvSpPr/>
          <p:nvPr/>
        </p:nvSpPr>
        <p:spPr>
          <a:xfrm>
            <a:off x="381305" y="5800954"/>
            <a:ext cx="19202" cy="37124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14" name="Text 7"/>
          <p:cNvSpPr txBox="1"/>
          <p:nvPr/>
        </p:nvSpPr>
        <p:spPr>
          <a:xfrm>
            <a:off x="514807" y="5800954"/>
            <a:ext cx="2229307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Balancing technical direction, delivery execution, and team mentorship.</a:t>
            </a:r>
            <a:endParaRPr lang="en-US" sz="900" dirty="0"/>
          </a:p>
        </p:txBody>
      </p:sp>
      <p:sp>
        <p:nvSpPr>
          <p:cNvPr id="15" name="Shape 8"/>
          <p:cNvSpPr/>
          <p:nvPr/>
        </p:nvSpPr>
        <p:spPr>
          <a:xfrm>
            <a:off x="3629254" y="552298"/>
            <a:ext cx="75895" cy="75895"/>
          </a:xfrm>
          <a:prstGeom prst="ellipse">
            <a:avLst/>
          </a:prstGeom>
          <a:solidFill>
            <a:srgbClr val="D9770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9"/>
          <p:cNvSpPr txBox="1"/>
          <p:nvPr/>
        </p:nvSpPr>
        <p:spPr>
          <a:xfrm>
            <a:off x="3781044" y="514807"/>
            <a:ext cx="16834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Leadership &amp; Execution</a:t>
            </a:r>
            <a:endParaRPr lang="en-US" sz="900" dirty="0"/>
          </a:p>
        </p:txBody>
      </p:sp>
      <p:sp>
        <p:nvSpPr>
          <p:cNvPr id="17" name="Text 10"/>
          <p:cNvSpPr txBox="1"/>
          <p:nvPr/>
        </p:nvSpPr>
        <p:spPr>
          <a:xfrm>
            <a:off x="3504895" y="866851"/>
            <a:ext cx="84207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My Scope &amp; Ownership</a:t>
            </a:r>
            <a:endParaRPr lang="en-US" sz="2700" dirty="0"/>
          </a:p>
        </p:txBody>
      </p:sp>
      <p:sp>
        <p:nvSpPr>
          <p:cNvPr id="18" name="Shape 11"/>
          <p:cNvSpPr/>
          <p:nvPr/>
        </p:nvSpPr>
        <p:spPr>
          <a:xfrm>
            <a:off x="3504895" y="466344"/>
            <a:ext cx="1990649" cy="247802"/>
          </a:xfrm>
          <a:prstGeom prst="roundRect">
            <a:avLst>
              <a:gd name="adj" fmla="val 369004"/>
            </a:avLst>
          </a:prstGeom>
          <a:solidFill>
            <a:srgbClr val="FFFBEB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rcRect l="-4" r="-4" t="0" b="0"/>
          <a:stretch/>
        </p:blipFill>
        <p:spPr>
          <a:xfrm>
            <a:off x="3504895" y="1600200"/>
            <a:ext cx="8229600" cy="1076249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3771900" y="1828800"/>
            <a:ext cx="7810805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Squad lead responsible for </a:t>
            </a:r>
            <a:pPr algn="l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delivery, technical direction, and engineering standards</a:t>
            </a:r>
            <a:pPr algn="l" indent="0" marL="0">
              <a:buNone/>
            </a:pPr>
            <a:r>
              <a:rPr lang="en-US" sz="1500" dirty="0">
                <a:solidFill>
                  <a:srgbClr val="1E3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the Vantage platform. 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3504895" y="3400654"/>
            <a:ext cx="39246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3504895" y="3105302"/>
            <a:ext cx="171907" cy="171907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3791102" y="3057754"/>
            <a:ext cx="217901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4" kern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 &amp; Delivery</a:t>
            </a:r>
            <a:endParaRPr lang="en-US" sz="1300" dirty="0"/>
          </a:p>
        </p:txBody>
      </p:sp>
      <p:sp>
        <p:nvSpPr>
          <p:cNvPr id="24" name="Shape 15"/>
          <p:cNvSpPr/>
          <p:nvPr/>
        </p:nvSpPr>
        <p:spPr>
          <a:xfrm>
            <a:off x="3504895" y="3638398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43" b="-43"/>
          <a:stretch/>
        </p:blipFill>
        <p:spPr>
          <a:xfrm>
            <a:off x="3629254" y="3752698"/>
            <a:ext cx="133502" cy="152705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4038905" y="3638398"/>
            <a:ext cx="3505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 Planning</a:t>
            </a:r>
            <a:endParaRPr lang="en-US" sz="1200" dirty="0"/>
          </a:p>
        </p:txBody>
      </p:sp>
      <p:sp>
        <p:nvSpPr>
          <p:cNvPr id="27" name="Text 17"/>
          <p:cNvSpPr txBox="1"/>
          <p:nvPr/>
        </p:nvSpPr>
        <p:spPr>
          <a:xfrm>
            <a:off x="4038905" y="3905402"/>
            <a:ext cx="34674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Owns timeline commitments and drives execution planning to ensure predictable delivery.</a:t>
            </a:r>
            <a:endParaRPr lang="en-US" sz="1000" dirty="0"/>
          </a:p>
        </p:txBody>
      </p:sp>
      <p:sp>
        <p:nvSpPr>
          <p:cNvPr id="28" name="Shape 18"/>
          <p:cNvSpPr/>
          <p:nvPr/>
        </p:nvSpPr>
        <p:spPr>
          <a:xfrm>
            <a:off x="3504895" y="4567428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180" b="-180"/>
          <a:stretch/>
        </p:blipFill>
        <p:spPr>
          <a:xfrm>
            <a:off x="3600907" y="4681728"/>
            <a:ext cx="190195" cy="152705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4038905" y="4567428"/>
            <a:ext cx="3505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Stakeholder Alignment</a:t>
            </a:r>
            <a:endParaRPr lang="en-US" sz="1200" dirty="0"/>
          </a:p>
        </p:txBody>
      </p:sp>
      <p:sp>
        <p:nvSpPr>
          <p:cNvPr id="31" name="Text 20"/>
          <p:cNvSpPr txBox="1"/>
          <p:nvPr/>
        </p:nvSpPr>
        <p:spPr>
          <a:xfrm>
            <a:off x="4038905" y="4833518"/>
            <a:ext cx="34674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Aligns platform changes with downstream consumers to maintain contract stability.</a:t>
            </a:r>
            <a:endParaRPr lang="en-US" sz="1000" dirty="0"/>
          </a:p>
        </p:txBody>
      </p:sp>
      <p:sp>
        <p:nvSpPr>
          <p:cNvPr id="32" name="Shape 21"/>
          <p:cNvSpPr/>
          <p:nvPr/>
        </p:nvSpPr>
        <p:spPr>
          <a:xfrm>
            <a:off x="7810805" y="3400654"/>
            <a:ext cx="39246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rcRect l="-760" r="-760" t="0" b="0"/>
          <a:stretch/>
        </p:blipFill>
        <p:spPr>
          <a:xfrm>
            <a:off x="7810805" y="3105302"/>
            <a:ext cx="152705" cy="171907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8076895" y="3057754"/>
            <a:ext cx="2525573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4" kern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 Excellence</a:t>
            </a:r>
            <a:endParaRPr lang="en-US" sz="1300" dirty="0"/>
          </a:p>
        </p:txBody>
      </p:sp>
      <p:sp>
        <p:nvSpPr>
          <p:cNvPr id="35" name="Shape 23"/>
          <p:cNvSpPr/>
          <p:nvPr/>
        </p:nvSpPr>
        <p:spPr>
          <a:xfrm>
            <a:off x="7810805" y="3638398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rcRect l="-33" r="-33" t="0" b="0"/>
          <a:stretch/>
        </p:blipFill>
        <p:spPr>
          <a:xfrm>
            <a:off x="7915046" y="3752698"/>
            <a:ext cx="171907" cy="152705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8343900" y="3638398"/>
            <a:ext cx="3505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Leadership</a:t>
            </a:r>
            <a:endParaRPr lang="en-US" sz="1200" dirty="0"/>
          </a:p>
        </p:txBody>
      </p:sp>
      <p:sp>
        <p:nvSpPr>
          <p:cNvPr id="38" name="Text 25"/>
          <p:cNvSpPr txBox="1"/>
          <p:nvPr/>
        </p:nvSpPr>
        <p:spPr>
          <a:xfrm>
            <a:off x="8343900" y="3905402"/>
            <a:ext cx="34674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 architectural and performance decisions to ensure system scalability.</a:t>
            </a:r>
            <a:endParaRPr lang="en-US" sz="1000" dirty="0"/>
          </a:p>
        </p:txBody>
      </p:sp>
      <p:sp>
        <p:nvSpPr>
          <p:cNvPr id="39" name="Shape 26"/>
          <p:cNvSpPr/>
          <p:nvPr/>
        </p:nvSpPr>
        <p:spPr>
          <a:xfrm>
            <a:off x="7810805" y="4567428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180" b="-180"/>
          <a:stretch/>
        </p:blipFill>
        <p:spPr>
          <a:xfrm>
            <a:off x="7905902" y="4681728"/>
            <a:ext cx="190195" cy="152705"/>
          </a:xfrm>
          <a:prstGeom prst="rect">
            <a:avLst/>
          </a:prstGeom>
        </p:spPr>
      </p:pic>
      <p:sp>
        <p:nvSpPr>
          <p:cNvPr id="41" name="Text 27"/>
          <p:cNvSpPr txBox="1"/>
          <p:nvPr/>
        </p:nvSpPr>
        <p:spPr>
          <a:xfrm>
            <a:off x="8343900" y="4567428"/>
            <a:ext cx="3505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 Execution</a:t>
            </a:r>
            <a:endParaRPr lang="en-US" sz="1200" dirty="0"/>
          </a:p>
        </p:txBody>
      </p:sp>
      <p:sp>
        <p:nvSpPr>
          <p:cNvPr id="42" name="Text 28"/>
          <p:cNvSpPr txBox="1"/>
          <p:nvPr/>
        </p:nvSpPr>
        <p:spPr>
          <a:xfrm>
            <a:off x="8343900" y="4833518"/>
            <a:ext cx="34674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Drives day-to-day engineering execution and removes technical blockers.</a:t>
            </a:r>
            <a:endParaRPr lang="en-US" sz="1000" dirty="0"/>
          </a:p>
        </p:txBody>
      </p:sp>
      <p:sp>
        <p:nvSpPr>
          <p:cNvPr id="43" name="Shape 29"/>
          <p:cNvSpPr/>
          <p:nvPr/>
        </p:nvSpPr>
        <p:spPr>
          <a:xfrm>
            <a:off x="7810805" y="5495544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4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43" b="-43"/>
          <a:stretch/>
        </p:blipFill>
        <p:spPr>
          <a:xfrm>
            <a:off x="7934249" y="5609844"/>
            <a:ext cx="133502" cy="152705"/>
          </a:xfrm>
          <a:prstGeom prst="rect">
            <a:avLst/>
          </a:prstGeom>
        </p:spPr>
      </p:pic>
      <p:sp>
        <p:nvSpPr>
          <p:cNvPr id="45" name="Text 30"/>
          <p:cNvSpPr txBox="1"/>
          <p:nvPr/>
        </p:nvSpPr>
        <p:spPr>
          <a:xfrm>
            <a:off x="8343900" y="5495544"/>
            <a:ext cx="3505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Mentorship &amp; Quality</a:t>
            </a:r>
            <a:endParaRPr lang="en-US" sz="1200" dirty="0"/>
          </a:p>
        </p:txBody>
      </p:sp>
      <p:sp>
        <p:nvSpPr>
          <p:cNvPr id="46" name="Text 31"/>
          <p:cNvSpPr txBox="1"/>
          <p:nvPr/>
        </p:nvSpPr>
        <p:spPr>
          <a:xfrm>
            <a:off x="8343900" y="5762549"/>
            <a:ext cx="34674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Mentors junior developers and enforces high engineering quality standards.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81305" y="1191463"/>
            <a:ext cx="11430000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381305" y="381305"/>
            <a:ext cx="10287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Design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-2029" r="-2029" t="0" b="0"/>
          <a:stretch/>
        </p:blipFill>
        <p:spPr>
          <a:xfrm>
            <a:off x="1439266" y="452628"/>
            <a:ext cx="304495" cy="91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81305" y="609905"/>
            <a:ext cx="934425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Platform Architecture &amp; Engineering Design</a:t>
            </a:r>
            <a:endParaRPr lang="en-US" sz="27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>
            <a:alphaModFix amt="20000"/>
          </a:blip>
          <a:srcRect l="-607" r="-607" t="0" b="0"/>
          <a:stretch/>
        </p:blipFill>
        <p:spPr>
          <a:xfrm>
            <a:off x="11420856" y="681228"/>
            <a:ext cx="390449" cy="3429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81305" y="1429207"/>
            <a:ext cx="6886346" cy="5048402"/>
          </a:xfrm>
          <a:prstGeom prst="roundRect">
            <a:avLst>
              <a:gd name="adj" fmla="val 410"/>
            </a:avLst>
          </a:prstGeom>
          <a:solidFill>
            <a:srgbClr val="F8FAFC"/>
          </a:solidFill>
          <a:ln w="38100">
            <a:solidFill>
              <a:srgbClr val="CBD5E1"/>
            </a:solidFill>
            <a:prstDash val="solid"/>
          </a:ln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6" b="-16"/>
          <a:stretch/>
        </p:blipFill>
        <p:spPr>
          <a:xfrm>
            <a:off x="3465576" y="3228746"/>
            <a:ext cx="714146" cy="57150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808330" y="4028846"/>
            <a:ext cx="60295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8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Paste Your Architecture Diagram Here</a:t>
            </a:r>
            <a:endParaRPr lang="en-US" sz="1800" dirty="0"/>
          </a:p>
        </p:txBody>
      </p:sp>
      <p:sp>
        <p:nvSpPr>
          <p:cNvPr id="12" name="Text 6"/>
          <p:cNvSpPr txBox="1"/>
          <p:nvPr/>
        </p:nvSpPr>
        <p:spPr>
          <a:xfrm>
            <a:off x="808330" y="4448556"/>
            <a:ext cx="60295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Full-Width Area Available</a:t>
            </a:r>
            <a:endParaRPr lang="en-US" sz="1200" dirty="0"/>
          </a:p>
        </p:txBody>
      </p:sp>
      <p:sp>
        <p:nvSpPr>
          <p:cNvPr id="13" name="Shape 7"/>
          <p:cNvSpPr/>
          <p:nvPr/>
        </p:nvSpPr>
        <p:spPr>
          <a:xfrm>
            <a:off x="638251" y="1686154"/>
            <a:ext cx="228600" cy="192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638251" y="1686154"/>
            <a:ext cx="19202" cy="22860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6779362" y="1686154"/>
            <a:ext cx="228600" cy="192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6988759" y="1686154"/>
            <a:ext cx="19202" cy="22860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638251" y="6200546"/>
            <a:ext cx="228600" cy="192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638251" y="5991149"/>
            <a:ext cx="19202" cy="22860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779362" y="6200546"/>
            <a:ext cx="228600" cy="192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988759" y="5991149"/>
            <a:ext cx="19202" cy="22860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-12" r="-12" t="0" b="0"/>
          <a:stretch/>
        </p:blipFill>
        <p:spPr>
          <a:xfrm>
            <a:off x="7646213" y="1429207"/>
            <a:ext cx="4089197" cy="218084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112557" y="1666951"/>
            <a:ext cx="35058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6" kern="0" dirty="0">
                <a:solidFill>
                  <a:srgbClr val="312E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High-Level Architecture </a:t>
            </a:r>
            <a:endParaRPr lang="en-US" sz="10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-837" r="-837" t="0" b="0"/>
          <a:stretch/>
        </p:blipFill>
        <p:spPr>
          <a:xfrm>
            <a:off x="7883957" y="1695298"/>
            <a:ext cx="152705" cy="13350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-3120" r="-3120" t="0" b="0"/>
          <a:stretch/>
        </p:blipFill>
        <p:spPr>
          <a:xfrm>
            <a:off x="7883957" y="2104949"/>
            <a:ext cx="75895" cy="11430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8074152" y="2048256"/>
            <a:ext cx="40581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Orchestration:</a:t>
            </a:r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Airflow manages end-to-end pipelines.</a:t>
            </a:r>
            <a:endParaRPr lang="en-US" sz="10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rcRect l="-3120" r="-3120" t="0" b="0"/>
          <a:stretch/>
        </p:blipFill>
        <p:spPr>
          <a:xfrm>
            <a:off x="7883957" y="2474366"/>
            <a:ext cx="75895" cy="114300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8074152" y="2416759"/>
            <a:ext cx="39154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Compute:</a:t>
            </a:r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Modular ETL layers for metric processing.</a:t>
            </a:r>
            <a:endParaRPr lang="en-US" sz="100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rcRect l="-3120" r="-3120" t="0" b="0"/>
          <a:stretch/>
        </p:blipFill>
        <p:spPr>
          <a:xfrm>
            <a:off x="7883957" y="2842870"/>
            <a:ext cx="75895" cy="11430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074152" y="2786177"/>
            <a:ext cx="38715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Storage:</a:t>
            </a:r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S3 Data Lake as shared ESG storage layer.</a:t>
            </a:r>
            <a:endParaRPr lang="en-US" sz="100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rcRect l="-3120" r="-3120" t="0" b="0"/>
          <a:stretch/>
        </p:blipFill>
        <p:spPr>
          <a:xfrm>
            <a:off x="7883957" y="3212287"/>
            <a:ext cx="75895" cy="114300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8074152" y="3155594"/>
            <a:ext cx="37188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Query:</a:t>
            </a:r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Athena/Presto serve analytics consumers.</a:t>
            </a:r>
            <a:endParaRPr lang="en-US" sz="1000" dirty="0"/>
          </a:p>
        </p:txBody>
      </p:sp>
      <p:sp>
        <p:nvSpPr>
          <p:cNvPr id="32" name="Text 20"/>
          <p:cNvSpPr txBox="1"/>
          <p:nvPr/>
        </p:nvSpPr>
        <p:spPr>
          <a:xfrm>
            <a:off x="7932420" y="3991356"/>
            <a:ext cx="39246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6" kern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Architecture Ownership </a:t>
            </a:r>
            <a:endParaRPr lang="en-US" sz="1000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rcRect l="-1507" r="-1507" t="0" b="0"/>
          <a:stretch/>
        </p:blipFill>
        <p:spPr>
          <a:xfrm>
            <a:off x="7683703" y="4019702"/>
            <a:ext cx="171907" cy="133502"/>
          </a:xfrm>
          <a:prstGeom prst="rect">
            <a:avLst/>
          </a:prstGeom>
        </p:spPr>
      </p:pic>
      <p:sp>
        <p:nvSpPr>
          <p:cNvPr id="34" name="Shape 21"/>
          <p:cNvSpPr/>
          <p:nvPr/>
        </p:nvSpPr>
        <p:spPr>
          <a:xfrm>
            <a:off x="7702906" y="4334256"/>
            <a:ext cx="19202" cy="198150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5" name="Text 22"/>
          <p:cNvSpPr txBox="1"/>
          <p:nvPr/>
        </p:nvSpPr>
        <p:spPr>
          <a:xfrm>
            <a:off x="7912303" y="4371746"/>
            <a:ext cx="39438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Airflow Framework Design</a:t>
            </a:r>
            <a:endParaRPr lang="en-US" sz="1200" dirty="0"/>
          </a:p>
        </p:txBody>
      </p:sp>
      <p:sp>
        <p:nvSpPr>
          <p:cNvPr id="36" name="Text 23"/>
          <p:cNvSpPr txBox="1"/>
          <p:nvPr/>
        </p:nvSpPr>
        <p:spPr>
          <a:xfrm>
            <a:off x="7912303" y="4657954"/>
            <a:ext cx="39438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Defined reusable DAG patterns &amp; standards.</a:t>
            </a:r>
            <a:endParaRPr lang="en-US" sz="1000" dirty="0"/>
          </a:p>
        </p:txBody>
      </p:sp>
      <p:sp>
        <p:nvSpPr>
          <p:cNvPr id="37" name="Text 24"/>
          <p:cNvSpPr txBox="1"/>
          <p:nvPr/>
        </p:nvSpPr>
        <p:spPr>
          <a:xfrm>
            <a:off x="7912303" y="5064862"/>
            <a:ext cx="39438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Partitioning Strategy</a:t>
            </a:r>
            <a:endParaRPr lang="en-US" sz="1200" dirty="0"/>
          </a:p>
        </p:txBody>
      </p:sp>
      <p:sp>
        <p:nvSpPr>
          <p:cNvPr id="38" name="Text 25"/>
          <p:cNvSpPr txBox="1"/>
          <p:nvPr/>
        </p:nvSpPr>
        <p:spPr>
          <a:xfrm>
            <a:off x="7912303" y="5351069"/>
            <a:ext cx="39438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Implemented Hive-style S3 partitioning.</a:t>
            </a:r>
            <a:endParaRPr lang="en-US" sz="1000" dirty="0"/>
          </a:p>
        </p:txBody>
      </p:sp>
      <p:sp>
        <p:nvSpPr>
          <p:cNvPr id="39" name="Text 26"/>
          <p:cNvSpPr txBox="1"/>
          <p:nvPr/>
        </p:nvSpPr>
        <p:spPr>
          <a:xfrm>
            <a:off x="7912303" y="5757977"/>
            <a:ext cx="39438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Reliability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16093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0" y="16002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alphaModFix amt="5000"/>
          </a:blip>
          <a:srcRect l="0" r="0" t="-2458" b="-2458"/>
          <a:stretch/>
        </p:blipFill>
        <p:spPr>
          <a:xfrm>
            <a:off x="8128102" y="0"/>
            <a:ext cx="4067251" cy="160020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5" b="-5"/>
          <a:stretch/>
        </p:blipFill>
        <p:spPr>
          <a:xfrm>
            <a:off x="381305" y="1990649"/>
            <a:ext cx="2133295" cy="4095598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181405" y="2257654"/>
            <a:ext cx="533095" cy="533095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352398" y="2428646"/>
            <a:ext cx="190195" cy="190195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900684" y="2905049"/>
            <a:ext cx="11000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Scalability</a:t>
            </a:r>
            <a:endParaRPr lang="en-US" sz="1500" dirty="0"/>
          </a:p>
        </p:txBody>
      </p:sp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400" b="-400"/>
          <a:stretch/>
        </p:blipFill>
        <p:spPr>
          <a:xfrm>
            <a:off x="1218895" y="3247949"/>
            <a:ext cx="457200" cy="19202"/>
          </a:xfrm>
          <a:prstGeom prst="rect">
            <a:avLst/>
          </a:prstGeom>
        </p:spPr>
      </p:pic>
      <p:sp>
        <p:nvSpPr>
          <p:cNvPr id="12" name="Text 4"/>
          <p:cNvSpPr txBox="1"/>
          <p:nvPr/>
        </p:nvSpPr>
        <p:spPr>
          <a:xfrm>
            <a:off x="838505" y="3495751"/>
            <a:ext cx="1475842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Partitioned S3 architecture supports multi-year ESG datasets</a:t>
            </a:r>
            <a:endParaRPr lang="en-US" sz="1200" dirty="0"/>
          </a:p>
        </p:txBody>
      </p:sp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09905" y="3534156"/>
            <a:ext cx="114300" cy="114300"/>
          </a:xfrm>
          <a:prstGeom prst="rect">
            <a:avLst/>
          </a:prstGeom>
        </p:spPr>
      </p:pic>
      <p:sp>
        <p:nvSpPr>
          <p:cNvPr id="14" name="Text 5"/>
          <p:cNvSpPr txBox="1"/>
          <p:nvPr/>
        </p:nvSpPr>
        <p:spPr>
          <a:xfrm>
            <a:off x="838505" y="4381805"/>
            <a:ext cx="147584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Pipelines designed for incremental + historical backfills</a:t>
            </a:r>
            <a:endParaRPr lang="en-US" sz="1200" dirty="0"/>
          </a:p>
        </p:txBody>
      </p:sp>
      <p:pic>
        <p:nvPicPr>
          <p:cNvPr id="15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09905" y="4419295"/>
            <a:ext cx="114300" cy="114300"/>
          </a:xfrm>
          <a:prstGeom prst="rect">
            <a:avLst/>
          </a:prstGeom>
        </p:spPr>
      </p:pic>
      <p:sp>
        <p:nvSpPr>
          <p:cNvPr id="16" name="Text 6"/>
          <p:cNvSpPr txBox="1"/>
          <p:nvPr/>
        </p:nvSpPr>
        <p:spPr>
          <a:xfrm>
            <a:off x="838505" y="5084064"/>
            <a:ext cx="147584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Modular DAGs allow independent scaling of workloads</a:t>
            </a:r>
            <a:endParaRPr lang="en-US" sz="1200" dirty="0"/>
          </a:p>
        </p:txBody>
      </p:sp>
      <p:pic>
        <p:nvPicPr>
          <p:cNvPr id="17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09905" y="5122469"/>
            <a:ext cx="114300" cy="114300"/>
          </a:xfrm>
          <a:prstGeom prst="rect">
            <a:avLst/>
          </a:prstGeom>
        </p:spPr>
      </p:pic>
      <p:pic>
        <p:nvPicPr>
          <p:cNvPr id="18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5" b="-5"/>
          <a:stretch/>
        </p:blipFill>
        <p:spPr>
          <a:xfrm>
            <a:off x="2704795" y="1990649"/>
            <a:ext cx="2133295" cy="4095598"/>
          </a:xfrm>
          <a:prstGeom prst="rect">
            <a:avLst/>
          </a:prstGeom>
        </p:spPr>
      </p:pic>
      <p:pic>
        <p:nvPicPr>
          <p:cNvPr id="19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3676802" y="2428646"/>
            <a:ext cx="190195" cy="190195"/>
          </a:xfrm>
          <a:prstGeom prst="rect">
            <a:avLst/>
          </a:prstGeom>
        </p:spPr>
      </p:pic>
      <p:sp>
        <p:nvSpPr>
          <p:cNvPr id="20" name="Text 7"/>
          <p:cNvSpPr txBox="1"/>
          <p:nvPr/>
        </p:nvSpPr>
        <p:spPr>
          <a:xfrm>
            <a:off x="2969057" y="2905049"/>
            <a:ext cx="16102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Maintainability</a:t>
            </a:r>
            <a:endParaRPr lang="en-US" sz="1500" dirty="0"/>
          </a:p>
        </p:txBody>
      </p:sp>
      <p:sp>
        <p:nvSpPr>
          <p:cNvPr id="21" name="Text 8"/>
          <p:cNvSpPr txBox="1"/>
          <p:nvPr/>
        </p:nvSpPr>
        <p:spPr>
          <a:xfrm>
            <a:off x="3161995" y="3495751"/>
            <a:ext cx="147584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Reusable Airflow DAG templates for consistency</a:t>
            </a:r>
            <a:endParaRPr lang="en-US" sz="1200" dirty="0"/>
          </a:p>
        </p:txBody>
      </p:sp>
      <p:pic>
        <p:nvPicPr>
          <p:cNvPr id="22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2933395" y="3534156"/>
            <a:ext cx="114300" cy="114300"/>
          </a:xfrm>
          <a:prstGeom prst="rect">
            <a:avLst/>
          </a:prstGeom>
        </p:spPr>
      </p:pic>
      <p:sp>
        <p:nvSpPr>
          <p:cNvPr id="23" name="Text 9"/>
          <p:cNvSpPr txBox="1"/>
          <p:nvPr/>
        </p:nvSpPr>
        <p:spPr>
          <a:xfrm>
            <a:off x="3161995" y="4198010"/>
            <a:ext cx="147584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Standardized pipeline structure across all ESG metrics</a:t>
            </a:r>
            <a:endParaRPr lang="en-US" sz="1200" dirty="0"/>
          </a:p>
        </p:txBody>
      </p:sp>
      <p:pic>
        <p:nvPicPr>
          <p:cNvPr id="24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2933395" y="4236415"/>
            <a:ext cx="114300" cy="114300"/>
          </a:xfrm>
          <a:prstGeom prst="rect">
            <a:avLst/>
          </a:prstGeom>
        </p:spPr>
      </p:pic>
      <p:sp>
        <p:nvSpPr>
          <p:cNvPr id="25" name="Text 10"/>
          <p:cNvSpPr txBox="1"/>
          <p:nvPr/>
        </p:nvSpPr>
        <p:spPr>
          <a:xfrm>
            <a:off x="3161995" y="4900270"/>
            <a:ext cx="147584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ownership boundaries between system components</a:t>
            </a:r>
            <a:endParaRPr lang="en-US" sz="1200" dirty="0"/>
          </a:p>
        </p:txBody>
      </p:sp>
      <p:pic>
        <p:nvPicPr>
          <p:cNvPr id="26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2933395" y="4938674"/>
            <a:ext cx="114300" cy="114300"/>
          </a:xfrm>
          <a:prstGeom prst="rect">
            <a:avLst/>
          </a:prstGeom>
        </p:spPr>
      </p:pic>
      <p:pic>
        <p:nvPicPr>
          <p:cNvPr id="27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-5" b="-5"/>
          <a:stretch/>
        </p:blipFill>
        <p:spPr>
          <a:xfrm>
            <a:off x="5029200" y="1990649"/>
            <a:ext cx="2133295" cy="4095598"/>
          </a:xfrm>
          <a:prstGeom prst="rect">
            <a:avLst/>
          </a:prstGeom>
        </p:spPr>
      </p:pic>
      <p:pic>
        <p:nvPicPr>
          <p:cNvPr id="28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5829300" y="2257654"/>
            <a:ext cx="533095" cy="533095"/>
          </a:xfrm>
          <a:prstGeom prst="rect">
            <a:avLst/>
          </a:prstGeom>
        </p:spPr>
      </p:pic>
      <p:pic>
        <p:nvPicPr>
          <p:cNvPr id="29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5976518" y="2428646"/>
            <a:ext cx="237744" cy="190195"/>
          </a:xfrm>
          <a:prstGeom prst="rect">
            <a:avLst/>
          </a:prstGeom>
        </p:spPr>
      </p:pic>
      <p:sp>
        <p:nvSpPr>
          <p:cNvPr id="30" name="Text 11"/>
          <p:cNvSpPr txBox="1"/>
          <p:nvPr/>
        </p:nvSpPr>
        <p:spPr>
          <a:xfrm>
            <a:off x="5480914" y="2905049"/>
            <a:ext cx="123626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Automation</a:t>
            </a:r>
            <a:endParaRPr lang="en-US" sz="1500" dirty="0"/>
          </a:p>
        </p:txBody>
      </p:sp>
      <p:pic>
        <p:nvPicPr>
          <p:cNvPr id="31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-400" b="-400"/>
          <a:stretch/>
        </p:blipFill>
        <p:spPr>
          <a:xfrm>
            <a:off x="5867705" y="3247949"/>
            <a:ext cx="457200" cy="19202"/>
          </a:xfrm>
          <a:prstGeom prst="rect">
            <a:avLst/>
          </a:prstGeom>
        </p:spPr>
      </p:pic>
      <p:sp>
        <p:nvSpPr>
          <p:cNvPr id="32" name="Text 12"/>
          <p:cNvSpPr txBox="1"/>
          <p:nvPr/>
        </p:nvSpPr>
        <p:spPr>
          <a:xfrm>
            <a:off x="5486400" y="3495751"/>
            <a:ext cx="1475842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 server-side orchestration (no manual EUC workflows)</a:t>
            </a:r>
            <a:endParaRPr lang="en-US" sz="1200" dirty="0"/>
          </a:p>
        </p:txBody>
      </p:sp>
      <p:pic>
        <p:nvPicPr>
          <p:cNvPr id="33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5257800" y="3534156"/>
            <a:ext cx="114300" cy="114300"/>
          </a:xfrm>
          <a:prstGeom prst="rect">
            <a:avLst/>
          </a:prstGeom>
        </p:spPr>
      </p:pic>
      <p:sp>
        <p:nvSpPr>
          <p:cNvPr id="34" name="Text 13"/>
          <p:cNvSpPr txBox="1"/>
          <p:nvPr/>
        </p:nvSpPr>
        <p:spPr>
          <a:xfrm>
            <a:off x="5486400" y="4381805"/>
            <a:ext cx="147584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retries and continuous monitoring</a:t>
            </a:r>
            <a:endParaRPr lang="en-US" sz="1200" dirty="0"/>
          </a:p>
        </p:txBody>
      </p:sp>
      <p:pic>
        <p:nvPicPr>
          <p:cNvPr id="35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0" b="0"/>
          <a:stretch/>
        </p:blipFill>
        <p:spPr>
          <a:xfrm>
            <a:off x="5257800" y="4419295"/>
            <a:ext cx="114300" cy="114300"/>
          </a:xfrm>
          <a:prstGeom prst="rect">
            <a:avLst/>
          </a:prstGeom>
        </p:spPr>
      </p:pic>
      <p:sp>
        <p:nvSpPr>
          <p:cNvPr id="36" name="Text 14"/>
          <p:cNvSpPr txBox="1"/>
          <p:nvPr/>
        </p:nvSpPr>
        <p:spPr>
          <a:xfrm>
            <a:off x="5486400" y="4900270"/>
            <a:ext cx="147584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Parameterized execution for full reproducibility</a:t>
            </a:r>
            <a:endParaRPr lang="en-US" sz="1200" dirty="0"/>
          </a:p>
        </p:txBody>
      </p:sp>
      <p:pic>
        <p:nvPicPr>
          <p:cNvPr id="37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0" b="0"/>
          <a:stretch/>
        </p:blipFill>
        <p:spPr>
          <a:xfrm>
            <a:off x="5257800" y="4938674"/>
            <a:ext cx="114300" cy="114300"/>
          </a:xfrm>
          <a:prstGeom prst="rect">
            <a:avLst/>
          </a:prstGeom>
        </p:spPr>
      </p:pic>
      <p:pic>
        <p:nvPicPr>
          <p:cNvPr id="38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-5" b="-5"/>
          <a:stretch/>
        </p:blipFill>
        <p:spPr>
          <a:xfrm>
            <a:off x="7353605" y="1990649"/>
            <a:ext cx="2133295" cy="4095598"/>
          </a:xfrm>
          <a:prstGeom prst="rect">
            <a:avLst/>
          </a:prstGeom>
        </p:spPr>
      </p:pic>
      <p:pic>
        <p:nvPicPr>
          <p:cNvPr id="39" name="Image 22" descr="preencoded.png">    </p:cNvPr>
          <p:cNvPicPr>
            <a:picLocks noChangeAspect="1"/>
          </p:cNvPicPr>
          <p:nvPr/>
        </p:nvPicPr>
        <p:blipFill>
          <a:blip r:embed="rId23"/>
          <a:srcRect l="0" r="0" t="0" b="0"/>
          <a:stretch/>
        </p:blipFill>
        <p:spPr>
          <a:xfrm>
            <a:off x="8324698" y="2428646"/>
            <a:ext cx="190195" cy="190195"/>
          </a:xfrm>
          <a:prstGeom prst="rect">
            <a:avLst/>
          </a:prstGeom>
        </p:spPr>
      </p:pic>
      <p:sp>
        <p:nvSpPr>
          <p:cNvPr id="40" name="Text 15"/>
          <p:cNvSpPr txBox="1"/>
          <p:nvPr/>
        </p:nvSpPr>
        <p:spPr>
          <a:xfrm>
            <a:off x="7610551" y="2905049"/>
            <a:ext cx="162123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Fault Tolerance</a:t>
            </a:r>
            <a:endParaRPr lang="en-US" sz="1500" dirty="0"/>
          </a:p>
        </p:txBody>
      </p:sp>
      <p:sp>
        <p:nvSpPr>
          <p:cNvPr id="41" name="Text 16"/>
          <p:cNvSpPr txBox="1"/>
          <p:nvPr/>
        </p:nvSpPr>
        <p:spPr>
          <a:xfrm>
            <a:off x="7810805" y="3495751"/>
            <a:ext cx="147584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Idempotent pipelines safe for re-run at any stage</a:t>
            </a:r>
            <a:endParaRPr lang="en-US" sz="1200" dirty="0"/>
          </a:p>
        </p:txBody>
      </p:sp>
      <p:pic>
        <p:nvPicPr>
          <p:cNvPr id="42" name="Image 23" descr="preencoded.png">    </p:cNvPr>
          <p:cNvPicPr>
            <a:picLocks noChangeAspect="1"/>
          </p:cNvPicPr>
          <p:nvPr/>
        </p:nvPicPr>
        <p:blipFill>
          <a:blip r:embed="rId24"/>
          <a:srcRect l="0" r="0" t="0" b="0"/>
          <a:stretch/>
        </p:blipFill>
        <p:spPr>
          <a:xfrm>
            <a:off x="7582205" y="3534156"/>
            <a:ext cx="114300" cy="114300"/>
          </a:xfrm>
          <a:prstGeom prst="rect">
            <a:avLst/>
          </a:prstGeom>
        </p:spPr>
      </p:pic>
      <p:sp>
        <p:nvSpPr>
          <p:cNvPr id="43" name="Text 17"/>
          <p:cNvSpPr txBox="1"/>
          <p:nvPr/>
        </p:nvSpPr>
        <p:spPr>
          <a:xfrm>
            <a:off x="7810805" y="4198010"/>
            <a:ext cx="147584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Isolated job failures do not cascade to other modules</a:t>
            </a:r>
            <a:endParaRPr lang="en-US" sz="1200" dirty="0"/>
          </a:p>
        </p:txBody>
      </p:sp>
      <p:pic>
        <p:nvPicPr>
          <p:cNvPr id="44" name="Image 24" descr="preencoded.png">    </p:cNvPr>
          <p:cNvPicPr>
            <a:picLocks noChangeAspect="1"/>
          </p:cNvPicPr>
          <p:nvPr/>
        </p:nvPicPr>
        <p:blipFill>
          <a:blip r:embed="rId25"/>
          <a:srcRect l="0" r="0" t="0" b="0"/>
          <a:stretch/>
        </p:blipFill>
        <p:spPr>
          <a:xfrm>
            <a:off x="7582205" y="4236415"/>
            <a:ext cx="114300" cy="114300"/>
          </a:xfrm>
          <a:prstGeom prst="rect">
            <a:avLst/>
          </a:prstGeom>
        </p:spPr>
      </p:pic>
      <p:sp>
        <p:nvSpPr>
          <p:cNvPr id="45" name="Text 18"/>
          <p:cNvSpPr txBox="1"/>
          <p:nvPr/>
        </p:nvSpPr>
        <p:spPr>
          <a:xfrm>
            <a:off x="7810805" y="4900270"/>
            <a:ext cx="147584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Retry strategy built directly into orchestration layer</a:t>
            </a:r>
            <a:endParaRPr lang="en-US" sz="1200" dirty="0"/>
          </a:p>
        </p:txBody>
      </p:sp>
      <p:pic>
        <p:nvPicPr>
          <p:cNvPr id="46" name="Image 25" descr="preencoded.png">    </p:cNvPr>
          <p:cNvPicPr>
            <a:picLocks noChangeAspect="1"/>
          </p:cNvPicPr>
          <p:nvPr/>
        </p:nvPicPr>
        <p:blipFill>
          <a:blip r:embed="rId26"/>
          <a:srcRect l="0" r="0" t="0" b="0"/>
          <a:stretch/>
        </p:blipFill>
        <p:spPr>
          <a:xfrm>
            <a:off x="7582205" y="4938674"/>
            <a:ext cx="114300" cy="114300"/>
          </a:xfrm>
          <a:prstGeom prst="rect">
            <a:avLst/>
          </a:prstGeom>
        </p:spPr>
      </p:pic>
      <p:pic>
        <p:nvPicPr>
          <p:cNvPr id="47" name="Image 26" descr="preencoded.png">    </p:cNvPr>
          <p:cNvPicPr>
            <a:picLocks noChangeAspect="1"/>
          </p:cNvPicPr>
          <p:nvPr/>
        </p:nvPicPr>
        <p:blipFill>
          <a:blip r:embed="rId27"/>
          <a:srcRect l="0" r="0" t="-5" b="-5"/>
          <a:stretch/>
        </p:blipFill>
        <p:spPr>
          <a:xfrm>
            <a:off x="9677095" y="1990649"/>
            <a:ext cx="2133295" cy="4095598"/>
          </a:xfrm>
          <a:prstGeom prst="rect">
            <a:avLst/>
          </a:prstGeom>
        </p:spPr>
      </p:pic>
      <p:pic>
        <p:nvPicPr>
          <p:cNvPr id="48" name="Image 27" descr="preencoded.png">    </p:cNvPr>
          <p:cNvPicPr>
            <a:picLocks noChangeAspect="1"/>
          </p:cNvPicPr>
          <p:nvPr/>
        </p:nvPicPr>
        <p:blipFill>
          <a:blip r:embed="rId28"/>
          <a:srcRect l="0" r="0" t="0" b="0"/>
          <a:stretch/>
        </p:blipFill>
        <p:spPr>
          <a:xfrm>
            <a:off x="10477195" y="2257654"/>
            <a:ext cx="533095" cy="533095"/>
          </a:xfrm>
          <a:prstGeom prst="rect">
            <a:avLst/>
          </a:prstGeom>
        </p:spPr>
      </p:pic>
      <p:pic>
        <p:nvPicPr>
          <p:cNvPr id="49" name="Image 28" descr="preencoded.png">    </p:cNvPr>
          <p:cNvPicPr>
            <a:picLocks noChangeAspect="1"/>
          </p:cNvPicPr>
          <p:nvPr/>
        </p:nvPicPr>
        <p:blipFill>
          <a:blip r:embed="rId29"/>
          <a:srcRect l="0" r="0" t="0" b="0"/>
          <a:stretch/>
        </p:blipFill>
        <p:spPr>
          <a:xfrm>
            <a:off x="10649102" y="2428646"/>
            <a:ext cx="190195" cy="190195"/>
          </a:xfrm>
          <a:prstGeom prst="rect">
            <a:avLst/>
          </a:prstGeom>
        </p:spPr>
      </p:pic>
      <p:sp>
        <p:nvSpPr>
          <p:cNvPr id="50" name="Text 19"/>
          <p:cNvSpPr txBox="1"/>
          <p:nvPr/>
        </p:nvSpPr>
        <p:spPr>
          <a:xfrm>
            <a:off x="9924898" y="2905049"/>
            <a:ext cx="164409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Reproducibility</a:t>
            </a:r>
            <a:endParaRPr lang="en-US" sz="1500" dirty="0"/>
          </a:p>
        </p:txBody>
      </p:sp>
      <p:pic>
        <p:nvPicPr>
          <p:cNvPr id="51" name="Image 29" descr="preencoded.png">    </p:cNvPr>
          <p:cNvPicPr>
            <a:picLocks noChangeAspect="1"/>
          </p:cNvPicPr>
          <p:nvPr/>
        </p:nvPicPr>
        <p:blipFill>
          <a:blip r:embed="rId30"/>
          <a:srcRect l="0" r="0" t="-400" b="-400"/>
          <a:stretch/>
        </p:blipFill>
        <p:spPr>
          <a:xfrm>
            <a:off x="10515600" y="3247949"/>
            <a:ext cx="457200" cy="19202"/>
          </a:xfrm>
          <a:prstGeom prst="rect">
            <a:avLst/>
          </a:prstGeom>
        </p:spPr>
      </p:pic>
      <p:sp>
        <p:nvSpPr>
          <p:cNvPr id="52" name="Text 20"/>
          <p:cNvSpPr txBox="1"/>
          <p:nvPr/>
        </p:nvSpPr>
        <p:spPr>
          <a:xfrm>
            <a:off x="10134295" y="3495751"/>
            <a:ext cx="147584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Hive-style partitioning guarantees deterministic outputs</a:t>
            </a:r>
            <a:endParaRPr lang="en-US" sz="1200" dirty="0"/>
          </a:p>
        </p:txBody>
      </p:sp>
      <p:pic>
        <p:nvPicPr>
          <p:cNvPr id="53" name="Image 30" descr="preencoded.png">    </p:cNvPr>
          <p:cNvPicPr>
            <a:picLocks noChangeAspect="1"/>
          </p:cNvPicPr>
          <p:nvPr/>
        </p:nvPicPr>
        <p:blipFill>
          <a:blip r:embed="rId31"/>
          <a:srcRect l="0" r="0" t="0" b="0"/>
          <a:stretch/>
        </p:blipFill>
        <p:spPr>
          <a:xfrm>
            <a:off x="9905695" y="3534156"/>
            <a:ext cx="114300" cy="114300"/>
          </a:xfrm>
          <a:prstGeom prst="rect">
            <a:avLst/>
          </a:prstGeom>
        </p:spPr>
      </p:pic>
      <p:sp>
        <p:nvSpPr>
          <p:cNvPr id="54" name="Text 21"/>
          <p:cNvSpPr txBox="1"/>
          <p:nvPr/>
        </p:nvSpPr>
        <p:spPr>
          <a:xfrm>
            <a:off x="10134295" y="4198010"/>
            <a:ext cx="147584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Historical datasets can be regenerated consistently</a:t>
            </a:r>
            <a:endParaRPr lang="en-US" sz="1200" dirty="0"/>
          </a:p>
        </p:txBody>
      </p:sp>
      <p:pic>
        <p:nvPicPr>
          <p:cNvPr id="55" name="Image 31" descr="preencoded.png">    </p:cNvPr>
          <p:cNvPicPr>
            <a:picLocks noChangeAspect="1"/>
          </p:cNvPicPr>
          <p:nvPr/>
        </p:nvPicPr>
        <p:blipFill>
          <a:blip r:embed="rId32"/>
          <a:srcRect l="0" r="0" t="0" b="0"/>
          <a:stretch/>
        </p:blipFill>
        <p:spPr>
          <a:xfrm>
            <a:off x="9905695" y="4236415"/>
            <a:ext cx="114300" cy="114300"/>
          </a:xfrm>
          <a:prstGeom prst="rect">
            <a:avLst/>
          </a:prstGeom>
        </p:spPr>
      </p:pic>
      <p:sp>
        <p:nvSpPr>
          <p:cNvPr id="56" name="Text 22"/>
          <p:cNvSpPr txBox="1"/>
          <p:nvPr/>
        </p:nvSpPr>
        <p:spPr>
          <a:xfrm>
            <a:off x="10134295" y="4900270"/>
            <a:ext cx="147584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Strict version-controlled pipeline logic</a:t>
            </a:r>
            <a:endParaRPr lang="en-US" sz="1200" dirty="0"/>
          </a:p>
        </p:txBody>
      </p:sp>
      <p:pic>
        <p:nvPicPr>
          <p:cNvPr id="57" name="Image 32" descr="preencoded.png">    </p:cNvPr>
          <p:cNvPicPr>
            <a:picLocks noChangeAspect="1"/>
          </p:cNvPicPr>
          <p:nvPr/>
        </p:nvPicPr>
        <p:blipFill>
          <a:blip r:embed="rId33"/>
          <a:srcRect l="0" r="0" t="0" b="0"/>
          <a:stretch/>
        </p:blipFill>
        <p:spPr>
          <a:xfrm>
            <a:off x="9905695" y="4938674"/>
            <a:ext cx="114300" cy="114300"/>
          </a:xfrm>
          <a:prstGeom prst="rect">
            <a:avLst/>
          </a:prstGeom>
        </p:spPr>
      </p:pic>
      <p:sp>
        <p:nvSpPr>
          <p:cNvPr id="58" name="Shape 23"/>
          <p:cNvSpPr/>
          <p:nvPr/>
        </p:nvSpPr>
        <p:spPr>
          <a:xfrm>
            <a:off x="0" y="6467551"/>
            <a:ext cx="12191695" cy="3904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Shape 24"/>
          <p:cNvSpPr/>
          <p:nvPr/>
        </p:nvSpPr>
        <p:spPr>
          <a:xfrm>
            <a:off x="0" y="6467551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0" name="Text 25"/>
          <p:cNvSpPr txBox="1"/>
          <p:nvPr/>
        </p:nvSpPr>
        <p:spPr>
          <a:xfrm>
            <a:off x="457200" y="6590995"/>
            <a:ext cx="9244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61" name="Text 26"/>
          <p:cNvSpPr txBox="1"/>
          <p:nvPr/>
        </p:nvSpPr>
        <p:spPr>
          <a:xfrm>
            <a:off x="10130638" y="6590995"/>
            <a:ext cx="191566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Vantage Platform Engineering</a:t>
            </a:r>
            <a:endParaRPr lang="en-US" sz="900" dirty="0"/>
          </a:p>
        </p:txBody>
      </p:sp>
      <p:pic>
        <p:nvPicPr>
          <p:cNvPr id="62" name="Image 33" descr="preencoded.png">    </p:cNvPr>
          <p:cNvPicPr>
            <a:picLocks noChangeAspect="1"/>
          </p:cNvPicPr>
          <p:nvPr/>
        </p:nvPicPr>
        <p:blipFill>
          <a:blip r:embed="rId34"/>
          <a:srcRect l="0" r="0" t="-450" b="-450"/>
          <a:stretch/>
        </p:blipFill>
        <p:spPr>
          <a:xfrm>
            <a:off x="457200" y="371246"/>
            <a:ext cx="304495" cy="19202"/>
          </a:xfrm>
          <a:prstGeom prst="rect">
            <a:avLst/>
          </a:prstGeom>
        </p:spPr>
      </p:pic>
      <p:sp>
        <p:nvSpPr>
          <p:cNvPr id="63" name="Text 27"/>
          <p:cNvSpPr txBox="1"/>
          <p:nvPr/>
        </p:nvSpPr>
        <p:spPr>
          <a:xfrm>
            <a:off x="838505" y="304495"/>
            <a:ext cx="12865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Philosophy</a:t>
            </a:r>
            <a:endParaRPr lang="en-US" sz="900" dirty="0"/>
          </a:p>
        </p:txBody>
      </p:sp>
      <p:sp>
        <p:nvSpPr>
          <p:cNvPr id="64" name="Text 28"/>
          <p:cNvSpPr txBox="1"/>
          <p:nvPr/>
        </p:nvSpPr>
        <p:spPr>
          <a:xfrm>
            <a:off x="457200" y="571500"/>
            <a:ext cx="501914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Engineering Principles</a:t>
            </a:r>
            <a:endParaRPr lang="en-US" sz="2700" dirty="0"/>
          </a:p>
        </p:txBody>
      </p:sp>
      <p:sp>
        <p:nvSpPr>
          <p:cNvPr id="65" name="Text 29"/>
          <p:cNvSpPr txBox="1"/>
          <p:nvPr/>
        </p:nvSpPr>
        <p:spPr>
          <a:xfrm>
            <a:off x="457200" y="1028700"/>
            <a:ext cx="47823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core pillars guiding the architecture of Vantage</a:t>
            </a:r>
            <a:endParaRPr lang="en-US" sz="1300" dirty="0"/>
          </a:p>
        </p:txBody>
      </p:sp>
      <p:pic>
        <p:nvPicPr>
          <p:cNvPr id="66" name="Image 34" descr="preencoded.png">    </p:cNvPr>
          <p:cNvPicPr>
            <a:picLocks noChangeAspect="1"/>
          </p:cNvPicPr>
          <p:nvPr/>
        </p:nvPicPr>
        <p:blipFill>
          <a:blip r:embed="rId35"/>
          <a:srcRect l="0" r="0" t="0" b="0"/>
          <a:stretch/>
        </p:blipFill>
        <p:spPr>
          <a:xfrm>
            <a:off x="11430000" y="914400"/>
            <a:ext cx="152705" cy="152705"/>
          </a:xfrm>
          <a:prstGeom prst="rect">
            <a:avLst/>
          </a:prstGeom>
        </p:spPr>
      </p:pic>
      <p:pic>
        <p:nvPicPr>
          <p:cNvPr id="67" name="Image 35" descr="preencoded.png">    </p:cNvPr>
          <p:cNvPicPr>
            <a:picLocks noChangeAspect="1"/>
          </p:cNvPicPr>
          <p:nvPr/>
        </p:nvPicPr>
        <p:blipFill>
          <a:blip r:embed="rId36"/>
          <a:srcRect l="0" r="0" t="0" b="0"/>
          <a:stretch/>
        </p:blipFill>
        <p:spPr>
          <a:xfrm>
            <a:off x="11277295" y="761695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3047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10000"/>
          </a:blip>
          <a:srcRect l="-38880" r="-38880" t="0" b="0"/>
          <a:stretch/>
        </p:blipFill>
        <p:spPr>
          <a:xfrm>
            <a:off x="0" y="0"/>
            <a:ext cx="3047695" cy="6858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047695" y="0"/>
            <a:ext cx="9144000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3504895" y="457200"/>
            <a:ext cx="84207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Reliability &amp; Testing Architecture</a:t>
            </a:r>
            <a:endParaRPr lang="en-US" sz="2700" dirty="0"/>
          </a:p>
        </p:txBody>
      </p:sp>
      <p:sp>
        <p:nvSpPr>
          <p:cNvPr id="8" name="Text 4"/>
          <p:cNvSpPr txBox="1"/>
          <p:nvPr/>
        </p:nvSpPr>
        <p:spPr>
          <a:xfrm>
            <a:off x="3504895" y="1000354"/>
            <a:ext cx="8915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robust framework combining the Data Validation Engine (DVE) with operational safeguards.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5" b="-5"/>
          <a:stretch/>
        </p:blipFill>
        <p:spPr>
          <a:xfrm>
            <a:off x="3504895" y="1647749"/>
            <a:ext cx="3962095" cy="4753051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43446" y="1352398"/>
            <a:ext cx="1218895" cy="1218895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5" b="-5"/>
          <a:stretch/>
        </p:blipFill>
        <p:spPr>
          <a:xfrm>
            <a:off x="7772400" y="1647749"/>
            <a:ext cx="3962095" cy="4753051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450" b="-450"/>
          <a:stretch/>
        </p:blipFill>
        <p:spPr>
          <a:xfrm>
            <a:off x="381305" y="381305"/>
            <a:ext cx="304495" cy="19202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381305" y="552298"/>
            <a:ext cx="23774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Assurance</a:t>
            </a:r>
            <a:endParaRPr lang="en-US" sz="900" dirty="0"/>
          </a:p>
        </p:txBody>
      </p:sp>
      <p:sp>
        <p:nvSpPr>
          <p:cNvPr id="14" name="Shape 6"/>
          <p:cNvSpPr/>
          <p:nvPr/>
        </p:nvSpPr>
        <p:spPr>
          <a:xfrm>
            <a:off x="381305" y="4543654"/>
            <a:ext cx="381305" cy="381305"/>
          </a:xfrm>
          <a:prstGeom prst="ellips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43" b="-43"/>
          <a:stretch/>
        </p:blipFill>
        <p:spPr>
          <a:xfrm>
            <a:off x="504749" y="4657954"/>
            <a:ext cx="133502" cy="152705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381305" y="5076749"/>
            <a:ext cx="237195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Trust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Through Testing </a:t>
            </a:r>
            <a:endParaRPr lang="en-US" sz="1800" dirty="0"/>
          </a:p>
        </p:txBody>
      </p:sp>
      <p:sp>
        <p:nvSpPr>
          <p:cNvPr id="17" name="Shape 8"/>
          <p:cNvSpPr/>
          <p:nvPr/>
        </p:nvSpPr>
        <p:spPr>
          <a:xfrm>
            <a:off x="381305" y="5800954"/>
            <a:ext cx="19202" cy="37124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18" name="Text 9"/>
          <p:cNvSpPr txBox="1"/>
          <p:nvPr/>
        </p:nvSpPr>
        <p:spPr>
          <a:xfrm>
            <a:off x="514807" y="5800954"/>
            <a:ext cx="2229307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validation ensuring data integrity at scale.</a:t>
            </a:r>
            <a:endParaRPr lang="en-US" sz="900" dirty="0"/>
          </a:p>
        </p:txBody>
      </p:sp>
      <p:sp>
        <p:nvSpPr>
          <p:cNvPr id="19" name="Shape 10"/>
          <p:cNvSpPr/>
          <p:nvPr/>
        </p:nvSpPr>
        <p:spPr>
          <a:xfrm>
            <a:off x="3819449" y="1962302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3929177" y="2095805"/>
            <a:ext cx="237744" cy="19019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4429354" y="1981505"/>
            <a:ext cx="249448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Validation Engine</a:t>
            </a:r>
            <a:endParaRPr lang="en-US" sz="1500" dirty="0"/>
          </a:p>
        </p:txBody>
      </p:sp>
      <p:sp>
        <p:nvSpPr>
          <p:cNvPr id="22" name="Text 12"/>
          <p:cNvSpPr txBox="1"/>
          <p:nvPr/>
        </p:nvSpPr>
        <p:spPr>
          <a:xfrm>
            <a:off x="4429354" y="2247595"/>
            <a:ext cx="21799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Framework</a:t>
            </a:r>
            <a:endParaRPr lang="en-US" sz="900" dirty="0"/>
          </a:p>
        </p:txBody>
      </p:sp>
      <p:sp>
        <p:nvSpPr>
          <p:cNvPr id="23" name="Text 13"/>
          <p:cNvSpPr txBox="1"/>
          <p:nvPr/>
        </p:nvSpPr>
        <p:spPr>
          <a:xfrm>
            <a:off x="3819449" y="2648102"/>
            <a:ext cx="34107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internal validation framework specifically designed for ESG pipelines.</a:t>
            </a:r>
            <a:endParaRPr lang="en-US" sz="10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100" b="-100"/>
          <a:stretch/>
        </p:blipFill>
        <p:spPr>
          <a:xfrm>
            <a:off x="3819449" y="4362602"/>
            <a:ext cx="114300" cy="152705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4048049" y="4324198"/>
            <a:ext cx="207111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Declarative Registry</a:t>
            </a:r>
            <a:endParaRPr lang="en-US" sz="1000" dirty="0"/>
          </a:p>
        </p:txBody>
      </p:sp>
      <p:sp>
        <p:nvSpPr>
          <p:cNvPr id="26" name="Text 15"/>
          <p:cNvSpPr txBox="1"/>
          <p:nvPr/>
        </p:nvSpPr>
        <p:spPr>
          <a:xfrm>
            <a:off x="4048049" y="4515307"/>
            <a:ext cx="23692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Tests defined in simple YAML + SQL.</a:t>
            </a:r>
            <a:endParaRPr lang="en-US" sz="90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3819449" y="4858207"/>
            <a:ext cx="152705" cy="152705"/>
          </a:xfrm>
          <a:prstGeom prst="rect">
            <a:avLst/>
          </a:prstGeom>
        </p:spPr>
      </p:pic>
      <p:sp>
        <p:nvSpPr>
          <p:cNvPr id="28" name="Text 16"/>
          <p:cNvSpPr txBox="1"/>
          <p:nvPr/>
        </p:nvSpPr>
        <p:spPr>
          <a:xfrm>
            <a:off x="4086454" y="4819802"/>
            <a:ext cx="23582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Suites</a:t>
            </a:r>
            <a:endParaRPr lang="en-US" sz="1000" dirty="0"/>
          </a:p>
        </p:txBody>
      </p:sp>
      <p:sp>
        <p:nvSpPr>
          <p:cNvPr id="29" name="Text 17"/>
          <p:cNvSpPr txBox="1"/>
          <p:nvPr/>
        </p:nvSpPr>
        <p:spPr>
          <a:xfrm>
            <a:off x="4086454" y="5009998"/>
            <a:ext cx="269839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Accuracy, reconcile, and regression tests.</a:t>
            </a:r>
            <a:endParaRPr lang="en-US" sz="900" dirty="0"/>
          </a:p>
        </p:txBody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3819449" y="5352898"/>
            <a:ext cx="152705" cy="152705"/>
          </a:xfrm>
          <a:prstGeom prst="rect">
            <a:avLst/>
          </a:prstGeom>
        </p:spPr>
      </p:pic>
      <p:sp>
        <p:nvSpPr>
          <p:cNvPr id="31" name="Text 18"/>
          <p:cNvSpPr txBox="1"/>
          <p:nvPr/>
        </p:nvSpPr>
        <p:spPr>
          <a:xfrm>
            <a:off x="4086454" y="5315407"/>
            <a:ext cx="23582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Historical Coverage</a:t>
            </a:r>
            <a:endParaRPr lang="en-US" sz="1000" dirty="0"/>
          </a:p>
        </p:txBody>
      </p:sp>
      <p:sp>
        <p:nvSpPr>
          <p:cNvPr id="32" name="Text 19"/>
          <p:cNvSpPr txBox="1"/>
          <p:nvPr/>
        </p:nvSpPr>
        <p:spPr>
          <a:xfrm>
            <a:off x="4086454" y="5505602"/>
            <a:ext cx="269839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against full multi-year ESG datasets.</a:t>
            </a:r>
            <a:endParaRPr lang="en-US" sz="900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rcRect l="-2" r="-2" t="0" b="0"/>
          <a:stretch/>
        </p:blipFill>
        <p:spPr>
          <a:xfrm>
            <a:off x="3819449" y="3181198"/>
            <a:ext cx="3333902" cy="914400"/>
          </a:xfrm>
          <a:prstGeom prst="rect">
            <a:avLst/>
          </a:prstGeom>
        </p:spPr>
      </p:pic>
      <p:sp>
        <p:nvSpPr>
          <p:cNvPr id="34" name="Shape 20"/>
          <p:cNvSpPr/>
          <p:nvPr/>
        </p:nvSpPr>
        <p:spPr>
          <a:xfrm>
            <a:off x="6066130" y="3086100"/>
            <a:ext cx="992124" cy="175565"/>
          </a:xfrm>
          <a:prstGeom prst="roundRect">
            <a:avLst>
              <a:gd name="adj" fmla="val 56641"/>
            </a:avLst>
          </a:prstGeom>
          <a:solidFill>
            <a:srgbClr val="EAB3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21"/>
          <p:cNvSpPr txBox="1"/>
          <p:nvPr/>
        </p:nvSpPr>
        <p:spPr>
          <a:xfrm>
            <a:off x="3933749" y="3314700"/>
            <a:ext cx="77175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test_type:</a:t>
            </a:r>
            <a:endParaRPr lang="en-US" sz="900" dirty="0"/>
          </a:p>
        </p:txBody>
      </p:sp>
      <p:sp>
        <p:nvSpPr>
          <p:cNvPr id="36" name="Text 22"/>
          <p:cNvSpPr txBox="1"/>
          <p:nvPr/>
        </p:nvSpPr>
        <p:spPr>
          <a:xfrm>
            <a:off x="4619549" y="3314700"/>
            <a:ext cx="11814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"reconciliation"</a:t>
            </a:r>
            <a:endParaRPr lang="en-US" sz="900" dirty="0"/>
          </a:p>
        </p:txBody>
      </p:sp>
      <p:sp>
        <p:nvSpPr>
          <p:cNvPr id="37" name="Text 23"/>
          <p:cNvSpPr txBox="1"/>
          <p:nvPr/>
        </p:nvSpPr>
        <p:spPr>
          <a:xfrm>
            <a:off x="3933749" y="3486607"/>
            <a:ext cx="56235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source:</a:t>
            </a:r>
            <a:endParaRPr lang="en-US" sz="900" dirty="0"/>
          </a:p>
        </p:txBody>
      </p:sp>
      <p:sp>
        <p:nvSpPr>
          <p:cNvPr id="38" name="Text 24"/>
          <p:cNvSpPr txBox="1"/>
          <p:nvPr/>
        </p:nvSpPr>
        <p:spPr>
          <a:xfrm>
            <a:off x="4413809" y="3486607"/>
            <a:ext cx="13149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"s3://raw_esg/..."</a:t>
            </a:r>
            <a:endParaRPr lang="en-US" sz="900" dirty="0"/>
          </a:p>
        </p:txBody>
      </p:sp>
      <p:sp>
        <p:nvSpPr>
          <p:cNvPr id="39" name="Text 25"/>
          <p:cNvSpPr txBox="1"/>
          <p:nvPr/>
        </p:nvSpPr>
        <p:spPr>
          <a:xfrm>
            <a:off x="3933749" y="3657600"/>
            <a:ext cx="77175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tolerance:</a:t>
            </a:r>
            <a:endParaRPr lang="en-US" sz="900" dirty="0"/>
          </a:p>
        </p:txBody>
      </p:sp>
      <p:sp>
        <p:nvSpPr>
          <p:cNvPr id="40" name="Text 26"/>
          <p:cNvSpPr txBox="1"/>
          <p:nvPr/>
        </p:nvSpPr>
        <p:spPr>
          <a:xfrm>
            <a:off x="4619549" y="3657600"/>
            <a:ext cx="42885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4B5F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0.001</a:t>
            </a:r>
            <a:endParaRPr lang="en-US" sz="900" dirty="0"/>
          </a:p>
        </p:txBody>
      </p:sp>
      <p:sp>
        <p:nvSpPr>
          <p:cNvPr id="41" name="Text 27"/>
          <p:cNvSpPr txBox="1"/>
          <p:nvPr/>
        </p:nvSpPr>
        <p:spPr>
          <a:xfrm>
            <a:off x="3933749" y="3829507"/>
            <a:ext cx="17245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Validates vs SQL Logic</a:t>
            </a:r>
            <a:endParaRPr lang="en-US" sz="900" dirty="0"/>
          </a:p>
        </p:txBody>
      </p:sp>
      <p:pic>
        <p:nvPicPr>
          <p:cNvPr id="42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8220456" y="2095805"/>
            <a:ext cx="190195" cy="190195"/>
          </a:xfrm>
          <a:prstGeom prst="rect">
            <a:avLst/>
          </a:prstGeom>
        </p:spPr>
      </p:pic>
      <p:sp>
        <p:nvSpPr>
          <p:cNvPr id="43" name="Text 28"/>
          <p:cNvSpPr txBox="1"/>
          <p:nvPr/>
        </p:nvSpPr>
        <p:spPr>
          <a:xfrm>
            <a:off x="8695944" y="1981505"/>
            <a:ext cx="243779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Reliability</a:t>
            </a:r>
            <a:endParaRPr lang="en-US" sz="1500" dirty="0"/>
          </a:p>
        </p:txBody>
      </p:sp>
      <p:sp>
        <p:nvSpPr>
          <p:cNvPr id="44" name="Text 29"/>
          <p:cNvSpPr txBox="1"/>
          <p:nvPr/>
        </p:nvSpPr>
        <p:spPr>
          <a:xfrm>
            <a:off x="8695944" y="2247595"/>
            <a:ext cx="213055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Outcome</a:t>
            </a:r>
            <a:endParaRPr lang="en-US" sz="900" dirty="0"/>
          </a:p>
        </p:txBody>
      </p:sp>
      <p:sp>
        <p:nvSpPr>
          <p:cNvPr id="45" name="Text 30"/>
          <p:cNvSpPr txBox="1"/>
          <p:nvPr/>
        </p:nvSpPr>
        <p:spPr>
          <a:xfrm>
            <a:off x="8086954" y="2648102"/>
            <a:ext cx="34107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Transforming testing from a manual bottleneck into an automated safety net.</a:t>
            </a:r>
            <a:endParaRPr lang="en-US" sz="1000" dirty="0"/>
          </a:p>
        </p:txBody>
      </p:sp>
      <p:sp>
        <p:nvSpPr>
          <p:cNvPr id="46" name="Shape 31"/>
          <p:cNvSpPr/>
          <p:nvPr/>
        </p:nvSpPr>
        <p:spPr>
          <a:xfrm>
            <a:off x="8086954" y="3181198"/>
            <a:ext cx="3333902" cy="1009498"/>
          </a:xfrm>
          <a:prstGeom prst="roundRect">
            <a:avLst>
              <a:gd name="adj" fmla="val 6836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Text 32"/>
          <p:cNvSpPr txBox="1"/>
          <p:nvPr/>
        </p:nvSpPr>
        <p:spPr>
          <a:xfrm>
            <a:off x="8248802" y="3343046"/>
            <a:ext cx="9811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 Speed</a:t>
            </a:r>
            <a:endParaRPr lang="en-US" sz="900" dirty="0"/>
          </a:p>
        </p:txBody>
      </p:sp>
      <p:sp>
        <p:nvSpPr>
          <p:cNvPr id="48" name="Text 33"/>
          <p:cNvSpPr txBox="1"/>
          <p:nvPr/>
        </p:nvSpPr>
        <p:spPr>
          <a:xfrm>
            <a:off x="10535717" y="3343046"/>
            <a:ext cx="80924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+80% Faster</a:t>
            </a:r>
            <a:endParaRPr lang="en-US" sz="900" dirty="0"/>
          </a:p>
        </p:txBody>
      </p:sp>
      <p:pic>
        <p:nvPicPr>
          <p:cNvPr id="49" name="Image 13" descr="preencoded.png">    </p:cNvPr>
          <p:cNvPicPr>
            <a:picLocks noChangeAspect="1"/>
          </p:cNvPicPr>
          <p:nvPr/>
        </p:nvPicPr>
        <p:blipFill>
          <a:blip r:embed="rId14"/>
          <a:srcRect l="-206" r="-206" t="0" b="0"/>
          <a:stretch/>
        </p:blipFill>
        <p:spPr>
          <a:xfrm>
            <a:off x="8248802" y="3571646"/>
            <a:ext cx="3010205" cy="75895"/>
          </a:xfrm>
          <a:prstGeom prst="rect">
            <a:avLst/>
          </a:prstGeom>
        </p:spPr>
      </p:pic>
      <p:sp>
        <p:nvSpPr>
          <p:cNvPr id="50" name="Text 34"/>
          <p:cNvSpPr txBox="1"/>
          <p:nvPr/>
        </p:nvSpPr>
        <p:spPr>
          <a:xfrm>
            <a:off x="8248802" y="3762756"/>
            <a:ext cx="8293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Confidence</a:t>
            </a:r>
            <a:endParaRPr lang="en-US" sz="900" dirty="0"/>
          </a:p>
        </p:txBody>
      </p:sp>
      <p:sp>
        <p:nvSpPr>
          <p:cNvPr id="51" name="Text 35"/>
          <p:cNvSpPr txBox="1"/>
          <p:nvPr/>
        </p:nvSpPr>
        <p:spPr>
          <a:xfrm>
            <a:off x="10998403" y="3762756"/>
            <a:ext cx="3429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900" dirty="0"/>
          </a:p>
        </p:txBody>
      </p:sp>
      <p:pic>
        <p:nvPicPr>
          <p:cNvPr id="52" name="Image 14" descr="preencoded.png">    </p:cNvPr>
          <p:cNvPicPr>
            <a:picLocks noChangeAspect="1"/>
          </p:cNvPicPr>
          <p:nvPr/>
        </p:nvPicPr>
        <p:blipFill>
          <a:blip r:embed="rId15"/>
          <a:srcRect l="-206" r="-206" t="0" b="0"/>
          <a:stretch/>
        </p:blipFill>
        <p:spPr>
          <a:xfrm>
            <a:off x="8248802" y="3952951"/>
            <a:ext cx="3010205" cy="75895"/>
          </a:xfrm>
          <a:prstGeom prst="rect">
            <a:avLst/>
          </a:prstGeom>
        </p:spPr>
      </p:pic>
      <p:pic>
        <p:nvPicPr>
          <p:cNvPr id="53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8086954" y="4457700"/>
            <a:ext cx="152705" cy="152705"/>
          </a:xfrm>
          <a:prstGeom prst="rect">
            <a:avLst/>
          </a:prstGeom>
        </p:spPr>
      </p:pic>
      <p:sp>
        <p:nvSpPr>
          <p:cNvPr id="54" name="Text 36"/>
          <p:cNvSpPr txBox="1"/>
          <p:nvPr/>
        </p:nvSpPr>
        <p:spPr>
          <a:xfrm>
            <a:off x="8353044" y="4419295"/>
            <a:ext cx="2179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Repeatable UAT</a:t>
            </a:r>
            <a:endParaRPr lang="en-US" sz="1000" dirty="0"/>
          </a:p>
        </p:txBody>
      </p:sp>
      <p:sp>
        <p:nvSpPr>
          <p:cNvPr id="55" name="Text 37"/>
          <p:cNvSpPr txBox="1"/>
          <p:nvPr/>
        </p:nvSpPr>
        <p:spPr>
          <a:xfrm>
            <a:off x="8353044" y="4610405"/>
            <a:ext cx="249448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 without manual intervention.</a:t>
            </a:r>
            <a:endParaRPr lang="en-US" sz="900" dirty="0"/>
          </a:p>
        </p:txBody>
      </p:sp>
      <p:pic>
        <p:nvPicPr>
          <p:cNvPr id="56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-100" b="-100"/>
          <a:stretch/>
        </p:blipFill>
        <p:spPr>
          <a:xfrm>
            <a:off x="8086954" y="4953305"/>
            <a:ext cx="114300" cy="152705"/>
          </a:xfrm>
          <a:prstGeom prst="rect">
            <a:avLst/>
          </a:prstGeom>
        </p:spPr>
      </p:pic>
      <p:sp>
        <p:nvSpPr>
          <p:cNvPr id="57" name="Text 38"/>
          <p:cNvSpPr txBox="1"/>
          <p:nvPr/>
        </p:nvSpPr>
        <p:spPr>
          <a:xfrm>
            <a:off x="8315554" y="4914900"/>
            <a:ext cx="18480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Tracking</a:t>
            </a:r>
            <a:endParaRPr lang="en-US" sz="1000" dirty="0"/>
          </a:p>
        </p:txBody>
      </p:sp>
      <p:sp>
        <p:nvSpPr>
          <p:cNvPr id="58" name="Text 39"/>
          <p:cNvSpPr txBox="1"/>
          <p:nvPr/>
        </p:nvSpPr>
        <p:spPr>
          <a:xfrm>
            <a:off x="8315554" y="5105095"/>
            <a:ext cx="210860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 logging and diff reporting.</a:t>
            </a:r>
            <a:endParaRPr lang="en-US" sz="900" dirty="0"/>
          </a:p>
        </p:txBody>
      </p:sp>
      <p:pic>
        <p:nvPicPr>
          <p:cNvPr id="59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-43" b="-43"/>
          <a:stretch/>
        </p:blipFill>
        <p:spPr>
          <a:xfrm>
            <a:off x="8086954" y="5447995"/>
            <a:ext cx="133502" cy="152705"/>
          </a:xfrm>
          <a:prstGeom prst="rect">
            <a:avLst/>
          </a:prstGeom>
        </p:spPr>
      </p:pic>
      <p:sp>
        <p:nvSpPr>
          <p:cNvPr id="60" name="Text 40"/>
          <p:cNvSpPr txBox="1"/>
          <p:nvPr/>
        </p:nvSpPr>
        <p:spPr>
          <a:xfrm>
            <a:off x="8334756" y="5410505"/>
            <a:ext cx="26554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Refactoring</a:t>
            </a:r>
            <a:endParaRPr lang="en-US" sz="1000" dirty="0"/>
          </a:p>
        </p:txBody>
      </p:sp>
      <p:sp>
        <p:nvSpPr>
          <p:cNvPr id="61" name="Text 41"/>
          <p:cNvSpPr txBox="1"/>
          <p:nvPr/>
        </p:nvSpPr>
        <p:spPr>
          <a:xfrm>
            <a:off x="8334756" y="5600700"/>
            <a:ext cx="30385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Changes deployed with regression guarantees.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3047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10000"/>
          </a:blip>
          <a:srcRect l="-38880" r="-38880" t="0" b="0"/>
          <a:stretch/>
        </p:blipFill>
        <p:spPr>
          <a:xfrm>
            <a:off x="0" y="0"/>
            <a:ext cx="3047695" cy="6858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047695" y="0"/>
            <a:ext cx="9144000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3429000" y="228600"/>
            <a:ext cx="1886407" cy="304495"/>
          </a:xfrm>
          <a:prstGeom prst="roundRect">
            <a:avLst>
              <a:gd name="adj" fmla="val 18769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3429000" y="228600"/>
            <a:ext cx="19623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Dive Topic 1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426964" y="304495"/>
            <a:ext cx="9144" cy="152705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550408" y="304495"/>
            <a:ext cx="1495958" cy="1527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Tuning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3429000" y="647395"/>
            <a:ext cx="84966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Initial Architecture Constraints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3429000" y="1080821"/>
            <a:ext cx="190195" cy="190195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-133" r="-133" t="0" b="0"/>
          <a:stretch/>
        </p:blipFill>
        <p:spPr>
          <a:xfrm>
            <a:off x="3481121" y="1119226"/>
            <a:ext cx="85954" cy="1143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696005" y="1080821"/>
            <a:ext cx="63057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analysis: Severe performance limitations identified during the initial assessment.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" b="-1"/>
          <a:stretch/>
        </p:blipFill>
        <p:spPr>
          <a:xfrm>
            <a:off x="3429000" y="1423721"/>
            <a:ext cx="4134002" cy="254569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3619195" y="1576426"/>
            <a:ext cx="304495" cy="304495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705149" y="1662379"/>
            <a:ext cx="133502" cy="133502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710782" y="1576426"/>
            <a:ext cx="705002" cy="200254"/>
          </a:xfrm>
          <a:prstGeom prst="roundRect">
            <a:avLst>
              <a:gd name="adj" fmla="val 86975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6710782" y="1576426"/>
            <a:ext cx="781812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~24 Hours</a:t>
            </a:r>
            <a:endParaRPr lang="en-US" sz="800" dirty="0"/>
          </a:p>
        </p:txBody>
      </p:sp>
      <p:sp>
        <p:nvSpPr>
          <p:cNvPr id="20" name="Text 13"/>
          <p:cNvSpPr txBox="1"/>
          <p:nvPr/>
        </p:nvSpPr>
        <p:spPr>
          <a:xfrm>
            <a:off x="3619195" y="1957730"/>
            <a:ext cx="3905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Extreme Processing Latency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3619195" y="2223821"/>
            <a:ext cx="38679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data date run took ~24 hours per module, making daily reporting impossible.</a:t>
            </a:r>
            <a:endParaRPr lang="en-US" sz="9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" b="-1"/>
          <a:stretch/>
        </p:blipFill>
        <p:spPr>
          <a:xfrm>
            <a:off x="7677302" y="1423721"/>
            <a:ext cx="4134002" cy="254569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7867498" y="1576426"/>
            <a:ext cx="304495" cy="304495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-7143" r="-7143" t="0" b="0"/>
          <a:stretch/>
        </p:blipFill>
        <p:spPr>
          <a:xfrm>
            <a:off x="7953451" y="1662379"/>
            <a:ext cx="133502" cy="133502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10947197" y="1576426"/>
            <a:ext cx="714146" cy="200254"/>
          </a:xfrm>
          <a:prstGeom prst="roundRect">
            <a:avLst>
              <a:gd name="adj" fmla="val 86975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17"/>
          <p:cNvSpPr txBox="1"/>
          <p:nvPr/>
        </p:nvSpPr>
        <p:spPr>
          <a:xfrm>
            <a:off x="10947197" y="1576426"/>
            <a:ext cx="790956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~2 Months</a:t>
            </a:r>
            <a:endParaRPr lang="en-US" sz="800" dirty="0"/>
          </a:p>
        </p:txBody>
      </p:sp>
      <p:sp>
        <p:nvSpPr>
          <p:cNvPr id="27" name="Text 18"/>
          <p:cNvSpPr txBox="1"/>
          <p:nvPr/>
        </p:nvSpPr>
        <p:spPr>
          <a:xfrm>
            <a:off x="7867498" y="1957730"/>
            <a:ext cx="3905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Prohibitive Historical Processing</a:t>
            </a:r>
            <a:endParaRPr lang="en-US" sz="1200" dirty="0"/>
          </a:p>
        </p:txBody>
      </p:sp>
      <p:sp>
        <p:nvSpPr>
          <p:cNvPr id="28" name="Text 19"/>
          <p:cNvSpPr txBox="1"/>
          <p:nvPr/>
        </p:nvSpPr>
        <p:spPr>
          <a:xfrm>
            <a:off x="7867498" y="2223821"/>
            <a:ext cx="38679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 historical month-end runs required ~2 months to process, blocking methodology changes.</a:t>
            </a:r>
            <a:endParaRPr lang="en-US" sz="9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" b="-1"/>
          <a:stretch/>
        </p:blipFill>
        <p:spPr>
          <a:xfrm>
            <a:off x="3429000" y="4083710"/>
            <a:ext cx="4134002" cy="2545690"/>
          </a:xfrm>
          <a:prstGeom prst="rect">
            <a:avLst/>
          </a:prstGeom>
        </p:spPr>
      </p:pic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3705149" y="4322369"/>
            <a:ext cx="133502" cy="133502"/>
          </a:xfrm>
          <a:prstGeom prst="rect">
            <a:avLst/>
          </a:prstGeom>
        </p:spPr>
      </p:pic>
      <p:sp>
        <p:nvSpPr>
          <p:cNvPr id="31" name="Shape 20"/>
          <p:cNvSpPr/>
          <p:nvPr/>
        </p:nvSpPr>
        <p:spPr>
          <a:xfrm>
            <a:off x="6788506" y="4236415"/>
            <a:ext cx="629107" cy="200254"/>
          </a:xfrm>
          <a:prstGeom prst="roundRect">
            <a:avLst>
              <a:gd name="adj" fmla="val 86975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1"/>
          <p:cNvSpPr txBox="1"/>
          <p:nvPr/>
        </p:nvSpPr>
        <p:spPr>
          <a:xfrm>
            <a:off x="6788506" y="4236415"/>
            <a:ext cx="705002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~6 / Year</a:t>
            </a:r>
            <a:endParaRPr lang="en-US" sz="800" dirty="0"/>
          </a:p>
        </p:txBody>
      </p:sp>
      <p:sp>
        <p:nvSpPr>
          <p:cNvPr id="33" name="Text 22"/>
          <p:cNvSpPr txBox="1"/>
          <p:nvPr/>
        </p:nvSpPr>
        <p:spPr>
          <a:xfrm>
            <a:off x="3619195" y="4616806"/>
            <a:ext cx="3905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Iteration Velocity</a:t>
            </a:r>
            <a:endParaRPr lang="en-US" sz="1200" dirty="0"/>
          </a:p>
        </p:txBody>
      </p:sp>
      <p:sp>
        <p:nvSpPr>
          <p:cNvPr id="34" name="Text 23"/>
          <p:cNvSpPr txBox="1"/>
          <p:nvPr/>
        </p:nvSpPr>
        <p:spPr>
          <a:xfrm>
            <a:off x="3619195" y="4883810"/>
            <a:ext cx="38679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~6 full reruns possible per year, severely limiting agility and bug fixing capacity.</a:t>
            </a:r>
            <a:endParaRPr lang="en-US" sz="9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1" b="-1"/>
          <a:stretch/>
        </p:blipFill>
        <p:spPr>
          <a:xfrm>
            <a:off x="7677302" y="4083710"/>
            <a:ext cx="4134002" cy="2545690"/>
          </a:xfrm>
          <a:prstGeom prst="rect">
            <a:avLst/>
          </a:prstGeom>
        </p:spPr>
      </p:pic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rcRect l="-837" r="-837" t="0" b="0"/>
          <a:stretch/>
        </p:blipFill>
        <p:spPr>
          <a:xfrm>
            <a:off x="7944307" y="4322369"/>
            <a:ext cx="152705" cy="133502"/>
          </a:xfrm>
          <a:prstGeom prst="rect">
            <a:avLst/>
          </a:prstGeom>
        </p:spPr>
      </p:pic>
      <p:sp>
        <p:nvSpPr>
          <p:cNvPr id="37" name="Shape 24"/>
          <p:cNvSpPr/>
          <p:nvPr/>
        </p:nvSpPr>
        <p:spPr>
          <a:xfrm>
            <a:off x="10899648" y="4236415"/>
            <a:ext cx="761695" cy="200254"/>
          </a:xfrm>
          <a:prstGeom prst="roundRect">
            <a:avLst>
              <a:gd name="adj" fmla="val 86975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25"/>
          <p:cNvSpPr txBox="1"/>
          <p:nvPr/>
        </p:nvSpPr>
        <p:spPr>
          <a:xfrm>
            <a:off x="10899648" y="4236415"/>
            <a:ext cx="838505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OOM Errors</a:t>
            </a:r>
            <a:endParaRPr lang="en-US" sz="800" dirty="0"/>
          </a:p>
        </p:txBody>
      </p:sp>
      <p:sp>
        <p:nvSpPr>
          <p:cNvPr id="39" name="Text 26"/>
          <p:cNvSpPr txBox="1"/>
          <p:nvPr/>
        </p:nvSpPr>
        <p:spPr>
          <a:xfrm>
            <a:off x="7867498" y="4616806"/>
            <a:ext cx="3905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 Exhaustion</a:t>
            </a:r>
            <a:endParaRPr lang="en-US" sz="1200" dirty="0"/>
          </a:p>
        </p:txBody>
      </p:sp>
      <p:sp>
        <p:nvSpPr>
          <p:cNvPr id="40" name="Text 27"/>
          <p:cNvSpPr txBox="1"/>
          <p:nvPr/>
        </p:nvSpPr>
        <p:spPr>
          <a:xfrm>
            <a:off x="7867498" y="4883810"/>
            <a:ext cx="38679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Pandas-based in-memory processing frequently exceeded Glue memory limits.</a:t>
            </a:r>
            <a:endParaRPr lang="en-US" sz="900" dirty="0"/>
          </a:p>
        </p:txBody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450" b="-450"/>
          <a:stretch/>
        </p:blipFill>
        <p:spPr>
          <a:xfrm>
            <a:off x="304495" y="304495"/>
            <a:ext cx="304495" cy="19202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304495" y="476402"/>
            <a:ext cx="253654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Legacy State</a:t>
            </a:r>
            <a:endParaRPr lang="en-US" sz="900" dirty="0"/>
          </a:p>
        </p:txBody>
      </p:sp>
      <p:sp>
        <p:nvSpPr>
          <p:cNvPr id="43" name="Shape 29"/>
          <p:cNvSpPr/>
          <p:nvPr/>
        </p:nvSpPr>
        <p:spPr>
          <a:xfrm>
            <a:off x="304495" y="4695444"/>
            <a:ext cx="381305" cy="381305"/>
          </a:xfrm>
          <a:prstGeom prst="ellipse">
            <a:avLst/>
          </a:prstGeom>
          <a:solidFill>
            <a:srgbClr val="7F1D1D"/>
          </a:solidFill>
          <a:ln w="12700">
            <a:solidFill>
              <a:srgbClr val="B91C1C"/>
            </a:solidFill>
            <a:prstDash val="solid"/>
          </a:ln>
        </p:spPr>
      </p:sp>
      <p:pic>
        <p:nvPicPr>
          <p:cNvPr id="44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418795" y="4809744"/>
            <a:ext cx="152705" cy="152705"/>
          </a:xfrm>
          <a:prstGeom prst="rect">
            <a:avLst/>
          </a:prstGeom>
        </p:spPr>
      </p:pic>
      <p:sp>
        <p:nvSpPr>
          <p:cNvPr id="45" name="Text 30"/>
          <p:cNvSpPr txBox="1"/>
          <p:nvPr/>
        </p:nvSpPr>
        <p:spPr>
          <a:xfrm>
            <a:off x="304495" y="5191049"/>
            <a:ext cx="252465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Critical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Bottlenecks </a:t>
            </a:r>
            <a:endParaRPr lang="en-US" sz="1800" dirty="0"/>
          </a:p>
        </p:txBody>
      </p:sp>
      <p:sp>
        <p:nvSpPr>
          <p:cNvPr id="46" name="Shape 31"/>
          <p:cNvSpPr/>
          <p:nvPr/>
        </p:nvSpPr>
        <p:spPr>
          <a:xfrm>
            <a:off x="304495" y="5876849"/>
            <a:ext cx="19202" cy="37124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47" name="Text 32"/>
          <p:cNvSpPr txBox="1"/>
          <p:nvPr/>
        </p:nvSpPr>
        <p:spPr>
          <a:xfrm>
            <a:off x="437998" y="5876849"/>
            <a:ext cx="2381098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 architecture limitations preventing scalability and rapid iteration.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3047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10000"/>
          </a:blip>
          <a:srcRect l="-38880" r="-38880" t="0" b="0"/>
          <a:stretch/>
        </p:blipFill>
        <p:spPr>
          <a:xfrm>
            <a:off x="0" y="0"/>
            <a:ext cx="3047695" cy="6858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047695" y="0"/>
            <a:ext cx="9144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3429000" y="1506017"/>
            <a:ext cx="838230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3429000" y="381305"/>
            <a:ext cx="1123798" cy="228600"/>
          </a:xfrm>
          <a:prstGeom prst="roundRect">
            <a:avLst>
              <a:gd name="adj" fmla="val 400000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3429000" y="381305"/>
            <a:ext cx="118140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3429000" y="685800"/>
            <a:ext cx="84966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Architectural Redesign for Scalability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3429000" y="1119226"/>
            <a:ext cx="8496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key engineering moves that unlocked performance and maintainability.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3648456" y="1814170"/>
            <a:ext cx="39721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Structural Improvements </a:t>
            </a:r>
            <a:endParaRPr lang="en-US" sz="9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-5467" r="-5467" t="0" b="0"/>
          <a:stretch/>
        </p:blipFill>
        <p:spPr>
          <a:xfrm>
            <a:off x="3429000" y="1833372"/>
            <a:ext cx="142646" cy="1143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429000" y="2195474"/>
            <a:ext cx="4076395" cy="1362456"/>
          </a:xfrm>
          <a:prstGeom prst="roundRect">
            <a:avLst>
              <a:gd name="adj" fmla="val 3755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5E7EB">
                <a:alpha val="8000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15" name="Text 10"/>
          <p:cNvSpPr txBox="1"/>
          <p:nvPr/>
        </p:nvSpPr>
        <p:spPr>
          <a:xfrm>
            <a:off x="6910121" y="2253082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i="1" dirty="0">
                <a:solidFill>
                  <a:srgbClr val="1E3A8A">
                    <a:alpha val="2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3600" dirty="0"/>
          </a:p>
        </p:txBody>
      </p:sp>
      <p:sp>
        <p:nvSpPr>
          <p:cNvPr id="16" name="Shape 11"/>
          <p:cNvSpPr/>
          <p:nvPr/>
        </p:nvSpPr>
        <p:spPr>
          <a:xfrm>
            <a:off x="3629254" y="2395728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-33" r="-33" t="0" b="0"/>
          <a:stretch/>
        </p:blipFill>
        <p:spPr>
          <a:xfrm>
            <a:off x="3733495" y="2510028"/>
            <a:ext cx="171907" cy="15270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162349" y="2395728"/>
            <a:ext cx="340979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Step-Based Modular Architecture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4162349" y="2700223"/>
            <a:ext cx="321960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Refactored monolithic jobs into discrete steps. Pipelines are now composed of small, manageable units.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429000" y="3740810"/>
            <a:ext cx="4076395" cy="1362456"/>
          </a:xfrm>
          <a:prstGeom prst="roundRect">
            <a:avLst>
              <a:gd name="adj" fmla="val 3755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5E7EB">
                <a:alpha val="8000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21" name="Text 15"/>
          <p:cNvSpPr txBox="1"/>
          <p:nvPr/>
        </p:nvSpPr>
        <p:spPr>
          <a:xfrm>
            <a:off x="6859829" y="3798418"/>
            <a:ext cx="6071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i="1" dirty="0">
                <a:solidFill>
                  <a:srgbClr val="1E3A8A">
                    <a:alpha val="2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3600" dirty="0"/>
          </a:p>
        </p:txBody>
      </p:sp>
      <p:sp>
        <p:nvSpPr>
          <p:cNvPr id="22" name="Shape 16"/>
          <p:cNvSpPr/>
          <p:nvPr/>
        </p:nvSpPr>
        <p:spPr>
          <a:xfrm>
            <a:off x="3629254" y="3941064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743554" y="4055364"/>
            <a:ext cx="152705" cy="15270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162349" y="3941064"/>
            <a:ext cx="32580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Idempotent Modules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4162349" y="4245559"/>
            <a:ext cx="321960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module is Parquet-output driven. Failures can be retried safely without data duplication or cleanup scripts.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3429000" y="5286146"/>
            <a:ext cx="4076395" cy="1362456"/>
          </a:xfrm>
          <a:prstGeom prst="roundRect">
            <a:avLst>
              <a:gd name="adj" fmla="val 3755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5E7EB">
                <a:alpha val="8000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27" name="Text 20"/>
          <p:cNvSpPr txBox="1"/>
          <p:nvPr/>
        </p:nvSpPr>
        <p:spPr>
          <a:xfrm>
            <a:off x="6872630" y="5343754"/>
            <a:ext cx="6062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i="1" dirty="0">
                <a:solidFill>
                  <a:srgbClr val="1E3A8A">
                    <a:alpha val="2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3600" dirty="0"/>
          </a:p>
        </p:txBody>
      </p:sp>
      <p:sp>
        <p:nvSpPr>
          <p:cNvPr id="28" name="Shape 21"/>
          <p:cNvSpPr/>
          <p:nvPr/>
        </p:nvSpPr>
        <p:spPr>
          <a:xfrm>
            <a:off x="3629254" y="5486400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rcRect l="-33" r="-33" t="0" b="0"/>
          <a:stretch/>
        </p:blipFill>
        <p:spPr>
          <a:xfrm>
            <a:off x="3733495" y="5600700"/>
            <a:ext cx="171907" cy="152705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4162349" y="5486400"/>
            <a:ext cx="32580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Logical Class Separation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4162349" y="5790895"/>
            <a:ext cx="321960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structure realigned to business methodology, making logic easier to trace and audit for Sustainability teams.</a:t>
            </a:r>
            <a:endParaRPr lang="en-US" sz="1000" dirty="0"/>
          </a:p>
        </p:txBody>
      </p:sp>
      <p:sp>
        <p:nvSpPr>
          <p:cNvPr id="32" name="Text 24"/>
          <p:cNvSpPr txBox="1"/>
          <p:nvPr/>
        </p:nvSpPr>
        <p:spPr>
          <a:xfrm>
            <a:off x="7934249" y="1814170"/>
            <a:ext cx="39913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Compute Engine Upgrade </a:t>
            </a:r>
            <a:endParaRPr lang="en-US" sz="9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rcRect l="-4000" r="-4000" t="0" b="0"/>
          <a:stretch/>
        </p:blipFill>
        <p:spPr>
          <a:xfrm>
            <a:off x="7733995" y="1833372"/>
            <a:ext cx="123444" cy="114300"/>
          </a:xfrm>
          <a:prstGeom prst="rect">
            <a:avLst/>
          </a:prstGeom>
        </p:spPr>
      </p:pic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rcRect l="-2" r="-2" t="0" b="0"/>
          <a:stretch/>
        </p:blipFill>
        <p:spPr>
          <a:xfrm>
            <a:off x="7733995" y="2195474"/>
            <a:ext cx="4076395" cy="2223821"/>
          </a:xfrm>
          <a:prstGeom prst="rect">
            <a:avLst/>
          </a:prstGeom>
        </p:spPr>
      </p:pic>
      <p:sp>
        <p:nvSpPr>
          <p:cNvPr id="35" name="Shape 25"/>
          <p:cNvSpPr/>
          <p:nvPr/>
        </p:nvSpPr>
        <p:spPr>
          <a:xfrm>
            <a:off x="10839298" y="2195474"/>
            <a:ext cx="952805" cy="952805"/>
          </a:xfrm>
          <a:prstGeom prst="roundRect">
            <a:avLst>
              <a:gd name="adj" fmla="val 95969"/>
            </a:avLst>
          </a:prstGeom>
          <a:solidFill>
            <a:srgbClr val="0EA5E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26"/>
          <p:cNvSpPr txBox="1"/>
          <p:nvPr/>
        </p:nvSpPr>
        <p:spPr>
          <a:xfrm>
            <a:off x="11158423" y="2253082"/>
            <a:ext cx="6080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i="1" dirty="0">
                <a:solidFill>
                  <a:srgbClr val="1E3A8A">
                    <a:alpha val="2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3600" dirty="0"/>
          </a:p>
        </p:txBody>
      </p:sp>
      <p:sp>
        <p:nvSpPr>
          <p:cNvPr id="37" name="Text 27"/>
          <p:cNvSpPr txBox="1"/>
          <p:nvPr/>
        </p:nvSpPr>
        <p:spPr>
          <a:xfrm>
            <a:off x="8296351" y="2433218"/>
            <a:ext cx="848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High Impact </a:t>
            </a:r>
            <a:endParaRPr lang="en-US" sz="900" dirty="0"/>
          </a:p>
        </p:txBody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rcRect l="-1911" r="-1911" t="0" b="0"/>
          <a:stretch/>
        </p:blipFill>
        <p:spPr>
          <a:xfrm>
            <a:off x="8086954" y="2490826"/>
            <a:ext cx="133502" cy="114300"/>
          </a:xfrm>
          <a:prstGeom prst="rect">
            <a:avLst/>
          </a:prstGeom>
        </p:spPr>
      </p:pic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530" b="-530"/>
          <a:stretch/>
        </p:blipFill>
        <p:spPr>
          <a:xfrm>
            <a:off x="7972654" y="2776118"/>
            <a:ext cx="247802" cy="286207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8334756" y="2776118"/>
            <a:ext cx="281452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SQL-on-Parquet (DuckDB)</a:t>
            </a:r>
            <a:endParaRPr lang="en-US" sz="1500" dirty="0"/>
          </a:p>
        </p:txBody>
      </p:sp>
      <p:sp>
        <p:nvSpPr>
          <p:cNvPr id="41" name="Text 29"/>
          <p:cNvSpPr txBox="1"/>
          <p:nvPr/>
        </p:nvSpPr>
        <p:spPr>
          <a:xfrm>
            <a:off x="7972654" y="3215030"/>
            <a:ext cx="36768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Moved transformation engine from iterative code to vectorized SQL-on-Parquet using DuckDB.</a:t>
            </a:r>
            <a:endParaRPr lang="en-US" sz="1000" dirty="0"/>
          </a:p>
        </p:txBody>
      </p:sp>
      <p:sp>
        <p:nvSpPr>
          <p:cNvPr id="42" name="Text 30"/>
          <p:cNvSpPr txBox="1"/>
          <p:nvPr/>
        </p:nvSpPr>
        <p:spPr>
          <a:xfrm>
            <a:off x="8162849" y="3800246"/>
            <a:ext cx="35250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Vectorized execution speed </a:t>
            </a:r>
            <a:endParaRPr lang="en-US" sz="900" dirty="0"/>
          </a:p>
        </p:txBody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7972654" y="3819449"/>
            <a:ext cx="114300" cy="114300"/>
          </a:xfrm>
          <a:prstGeom prst="rect">
            <a:avLst/>
          </a:prstGeom>
        </p:spPr>
      </p:pic>
      <p:sp>
        <p:nvSpPr>
          <p:cNvPr id="44" name="Text 31"/>
          <p:cNvSpPr txBox="1"/>
          <p:nvPr/>
        </p:nvSpPr>
        <p:spPr>
          <a:xfrm>
            <a:off x="8162849" y="4028846"/>
            <a:ext cx="35250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Direct S3 querying capabilities </a:t>
            </a:r>
            <a:endParaRPr lang="en-US" sz="900" dirty="0"/>
          </a:p>
        </p:txBody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7972654" y="4048049"/>
            <a:ext cx="114300" cy="114300"/>
          </a:xfrm>
          <a:prstGeom prst="rect">
            <a:avLst/>
          </a:prstGeom>
        </p:spPr>
      </p:pic>
      <p:sp>
        <p:nvSpPr>
          <p:cNvPr id="46" name="Shape 32"/>
          <p:cNvSpPr/>
          <p:nvPr/>
        </p:nvSpPr>
        <p:spPr>
          <a:xfrm>
            <a:off x="7733995" y="4610405"/>
            <a:ext cx="4076395" cy="2038198"/>
          </a:xfrm>
          <a:prstGeom prst="roundRect">
            <a:avLst>
              <a:gd name="adj" fmla="val 1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5E7EB">
                <a:alpha val="8000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5000"/>
              </a:srgbClr>
            </a:outerShdw>
          </a:effectLst>
        </p:spPr>
      </p:sp>
      <p:sp>
        <p:nvSpPr>
          <p:cNvPr id="47" name="Text 33"/>
          <p:cNvSpPr txBox="1"/>
          <p:nvPr/>
        </p:nvSpPr>
        <p:spPr>
          <a:xfrm>
            <a:off x="11194085" y="4667098"/>
            <a:ext cx="604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i="1" dirty="0">
                <a:solidFill>
                  <a:srgbClr val="1E3A8A">
                    <a:alpha val="20000"/>
                  </a:srgbClr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05</a:t>
            </a:r>
            <a:endParaRPr lang="en-US" sz="3600" dirty="0"/>
          </a:p>
        </p:txBody>
      </p:sp>
      <p:pic>
        <p:nvPicPr>
          <p:cNvPr id="48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7934249" y="4809744"/>
            <a:ext cx="381305" cy="381305"/>
          </a:xfrm>
          <a:prstGeom prst="rect">
            <a:avLst/>
          </a:prstGeom>
        </p:spPr>
      </p:pic>
      <p:pic>
        <p:nvPicPr>
          <p:cNvPr id="49" name="Image 13" descr="preencoded.png">    </p:cNvPr>
          <p:cNvPicPr>
            <a:picLocks noChangeAspect="1"/>
          </p:cNvPicPr>
          <p:nvPr/>
        </p:nvPicPr>
        <p:blipFill>
          <a:blip r:embed="rId14"/>
          <a:srcRect l="-33" r="-33" t="0" b="0"/>
          <a:stretch/>
        </p:blipFill>
        <p:spPr>
          <a:xfrm>
            <a:off x="8039405" y="4924044"/>
            <a:ext cx="171907" cy="152705"/>
          </a:xfrm>
          <a:prstGeom prst="rect">
            <a:avLst/>
          </a:prstGeom>
        </p:spPr>
      </p:pic>
      <p:sp>
        <p:nvSpPr>
          <p:cNvPr id="50" name="Text 34"/>
          <p:cNvSpPr txBox="1"/>
          <p:nvPr/>
        </p:nvSpPr>
        <p:spPr>
          <a:xfrm>
            <a:off x="8467344" y="4809744"/>
            <a:ext cx="32580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Eliminated Memory Bottlenecks</a:t>
            </a:r>
            <a:endParaRPr lang="en-US" sz="1300" dirty="0"/>
          </a:p>
        </p:txBody>
      </p:sp>
      <p:sp>
        <p:nvSpPr>
          <p:cNvPr id="51" name="Text 35"/>
          <p:cNvSpPr txBox="1"/>
          <p:nvPr/>
        </p:nvSpPr>
        <p:spPr>
          <a:xfrm>
            <a:off x="8467344" y="5115154"/>
            <a:ext cx="32196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Removed large in-memory Pandas workloads that caused OOM errors.</a:t>
            </a:r>
            <a:endParaRPr lang="en-US" sz="1000" dirty="0"/>
          </a:p>
        </p:txBody>
      </p:sp>
      <p:pic>
        <p:nvPicPr>
          <p:cNvPr id="52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-450" b="-450"/>
          <a:stretch/>
        </p:blipFill>
        <p:spPr>
          <a:xfrm>
            <a:off x="381305" y="381305"/>
            <a:ext cx="304495" cy="19202"/>
          </a:xfrm>
          <a:prstGeom prst="rect">
            <a:avLst/>
          </a:prstGeom>
        </p:spPr>
      </p:pic>
      <p:sp>
        <p:nvSpPr>
          <p:cNvPr id="53" name="Text 36"/>
          <p:cNvSpPr txBox="1"/>
          <p:nvPr/>
        </p:nvSpPr>
        <p:spPr>
          <a:xfrm>
            <a:off x="381305" y="552298"/>
            <a:ext cx="23774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2.0</a:t>
            </a:r>
            <a:endParaRPr lang="en-US" sz="900" dirty="0"/>
          </a:p>
        </p:txBody>
      </p:sp>
      <p:sp>
        <p:nvSpPr>
          <p:cNvPr id="54" name="Shape 37"/>
          <p:cNvSpPr/>
          <p:nvPr/>
        </p:nvSpPr>
        <p:spPr>
          <a:xfrm>
            <a:off x="381305" y="4543654"/>
            <a:ext cx="381305" cy="381305"/>
          </a:xfrm>
          <a:prstGeom prst="ellipse">
            <a:avLst/>
          </a:prstGeom>
          <a:solidFill>
            <a:srgbClr val="064E3B"/>
          </a:solidFill>
          <a:ln w="12700">
            <a:solidFill>
              <a:srgbClr val="047857"/>
            </a:solidFill>
            <a:prstDash val="solid"/>
          </a:ln>
        </p:spPr>
      </p:sp>
      <p:pic>
        <p:nvPicPr>
          <p:cNvPr id="55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495605" y="4657954"/>
            <a:ext cx="152705" cy="152705"/>
          </a:xfrm>
          <a:prstGeom prst="rect">
            <a:avLst/>
          </a:prstGeom>
        </p:spPr>
      </p:pic>
      <p:sp>
        <p:nvSpPr>
          <p:cNvPr id="56" name="Text 38"/>
          <p:cNvSpPr txBox="1"/>
          <p:nvPr/>
        </p:nvSpPr>
        <p:spPr>
          <a:xfrm>
            <a:off x="381305" y="5076749"/>
            <a:ext cx="237195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Scalable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Processing </a:t>
            </a:r>
            <a:endParaRPr lang="en-US" sz="1800" dirty="0"/>
          </a:p>
        </p:txBody>
      </p:sp>
      <p:sp>
        <p:nvSpPr>
          <p:cNvPr id="57" name="Shape 39"/>
          <p:cNvSpPr/>
          <p:nvPr/>
        </p:nvSpPr>
        <p:spPr>
          <a:xfrm>
            <a:off x="381305" y="5800954"/>
            <a:ext cx="19202" cy="37124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58" name="Text 40"/>
          <p:cNvSpPr txBox="1"/>
          <p:nvPr/>
        </p:nvSpPr>
        <p:spPr>
          <a:xfrm>
            <a:off x="514807" y="5800954"/>
            <a:ext cx="2229307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Transforming the engine for speed, reliability, and massive scale.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3047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10000"/>
          </a:blip>
          <a:srcRect l="-38880" r="-38880" t="0" b="0"/>
          <a:stretch/>
        </p:blipFill>
        <p:spPr>
          <a:xfrm>
            <a:off x="0" y="0"/>
            <a:ext cx="3047695" cy="6858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047695" y="0"/>
            <a:ext cx="9144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3353105" y="1505102"/>
            <a:ext cx="85340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3353105" y="304495"/>
            <a:ext cx="2352751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3353105" y="304495"/>
            <a:ext cx="2446934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" kern="0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Optimization Spotlight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3353105" y="685800"/>
            <a:ext cx="86493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S3 Caching Layer Optimization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3353105" y="1119226"/>
            <a:ext cx="8649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Removing the ingestion bottleneck to enable rapid historical reprocessing.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3652114" y="1814170"/>
            <a:ext cx="324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Solution - Iteration 2 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-6287" r="-6287" t="0" b="0"/>
          <a:stretch/>
        </p:blipFill>
        <p:spPr>
          <a:xfrm>
            <a:off x="3353105" y="1852574"/>
            <a:ext cx="171907" cy="152705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353105" y="2195474"/>
            <a:ext cx="381305" cy="381305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-1064" r="-1064" t="0" b="0"/>
          <a:stretch/>
        </p:blipFill>
        <p:spPr>
          <a:xfrm>
            <a:off x="3433572" y="2300630"/>
            <a:ext cx="219456" cy="171907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3886200" y="2195474"/>
            <a:ext cx="30102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 Redundant Downloads</a:t>
            </a:r>
            <a:endParaRPr lang="en-US" sz="1000" dirty="0"/>
          </a:p>
        </p:txBody>
      </p:sp>
      <p:sp>
        <p:nvSpPr>
          <p:cNvPr id="17" name="Text 10"/>
          <p:cNvSpPr txBox="1"/>
          <p:nvPr/>
        </p:nvSpPr>
        <p:spPr>
          <a:xfrm>
            <a:off x="3886200" y="2424074"/>
            <a:ext cx="29718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Introduced an intermediate S3 caching layer. Upstream data is downloaded once and stored as Parquet.</a:t>
            </a:r>
            <a:endParaRPr lang="en-US" sz="9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353105" y="3286354"/>
            <a:ext cx="381305" cy="381305"/>
          </a:xfrm>
          <a:prstGeom prst="rect">
            <a:avLst/>
          </a:prstGeom>
        </p:spPr>
      </p:pic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3457346" y="3390595"/>
            <a:ext cx="171907" cy="171907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3886200" y="3286354"/>
            <a:ext cx="30102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Reuse Across Methodologies</a:t>
            </a:r>
            <a:endParaRPr lang="en-US" sz="1000" dirty="0"/>
          </a:p>
        </p:txBody>
      </p:sp>
      <p:sp>
        <p:nvSpPr>
          <p:cNvPr id="21" name="Text 12"/>
          <p:cNvSpPr txBox="1"/>
          <p:nvPr/>
        </p:nvSpPr>
        <p:spPr>
          <a:xfrm>
            <a:off x="3886200" y="3514954"/>
            <a:ext cx="29718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Cached datasets are methodology-agnostic. When logic changes, we re-run compute immediately against the cache without waiting for ingestion.</a:t>
            </a:r>
            <a:endParaRPr lang="en-US" sz="9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3353105" y="4376318"/>
            <a:ext cx="381305" cy="381305"/>
          </a:xfrm>
          <a:prstGeom prst="rect">
            <a:avLst/>
          </a:prstGeom>
        </p:spPr>
      </p:pic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rcRect l="-760" r="-760" t="0" b="0"/>
          <a:stretch/>
        </p:blipFill>
        <p:spPr>
          <a:xfrm>
            <a:off x="3467405" y="4481474"/>
            <a:ext cx="152705" cy="171907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3886200" y="4376318"/>
            <a:ext cx="30102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Eliminate Bottlenecks</a:t>
            </a:r>
            <a:endParaRPr lang="en-US" sz="1000" dirty="0"/>
          </a:p>
        </p:txBody>
      </p:sp>
      <p:sp>
        <p:nvSpPr>
          <p:cNvPr id="25" name="Text 14"/>
          <p:cNvSpPr txBox="1"/>
          <p:nvPr/>
        </p:nvSpPr>
        <p:spPr>
          <a:xfrm>
            <a:off x="3886200" y="4604918"/>
            <a:ext cx="29718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Removed the multi-hour ingestion step from the critical path of reprocessing jobs, transforming IO-bound jobs into CPU-bound ones.</a:t>
            </a:r>
            <a:endParaRPr lang="en-US" sz="90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4" b="-4"/>
          <a:stretch/>
        </p:blipFill>
        <p:spPr>
          <a:xfrm>
            <a:off x="7086600" y="1738274"/>
            <a:ext cx="4800600" cy="4815230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10916107" y="1261872"/>
            <a:ext cx="1429207" cy="1429207"/>
          </a:xfrm>
          <a:prstGeom prst="ellipse">
            <a:avLst/>
          </a:prstGeom>
          <a:solidFill>
            <a:srgbClr val="86EFAC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>
            <a:alphaModFix amt="20000"/>
          </a:blip>
          <a:srcRect l="0" r="0" t="0" b="0"/>
          <a:stretch/>
        </p:blipFill>
        <p:spPr>
          <a:xfrm>
            <a:off x="11192256" y="1976018"/>
            <a:ext cx="457200" cy="457200"/>
          </a:xfrm>
          <a:prstGeom prst="rect">
            <a:avLst/>
          </a:prstGeom>
        </p:spPr>
      </p:pic>
      <p:sp>
        <p:nvSpPr>
          <p:cNvPr id="29" name="Shape 16"/>
          <p:cNvSpPr/>
          <p:nvPr/>
        </p:nvSpPr>
        <p:spPr>
          <a:xfrm>
            <a:off x="7401154" y="2434133"/>
            <a:ext cx="4172407" cy="9144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</p:sp>
      <p:sp>
        <p:nvSpPr>
          <p:cNvPr id="30" name="Text 17"/>
          <p:cNvSpPr txBox="1"/>
          <p:nvPr/>
        </p:nvSpPr>
        <p:spPr>
          <a:xfrm>
            <a:off x="7401154" y="2052828"/>
            <a:ext cx="4248302" cy="2679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4E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Historical Take-on Velocity</a:t>
            </a:r>
            <a:endParaRPr lang="en-US" sz="1300" dirty="0"/>
          </a:p>
        </p:txBody>
      </p:sp>
      <p:sp>
        <p:nvSpPr>
          <p:cNvPr id="31" name="Text 18"/>
          <p:cNvSpPr txBox="1"/>
          <p:nvPr/>
        </p:nvSpPr>
        <p:spPr>
          <a:xfrm>
            <a:off x="7715707" y="2595982"/>
            <a:ext cx="3933749" cy="876910"/>
          </a:xfrm>
          <a:prstGeom prst="rect">
            <a:avLst/>
          </a:prstGeom>
          <a:solidFill>
            <a:srgbClr val="D1FAE5"/>
          </a:solidFill>
          <a:ln w="12700">
            <a:solidFill>
              <a:srgbClr val="A7F3D0"/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Context:</a:t>
            </a:r>
            <a:pPr algn="l" indent="0" marL="0">
              <a:buNone/>
            </a:pPr>
            <a:r>
              <a:rPr lang="en-US" sz="1200" i="1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Reruns triggered by bugs or methodology changes using existing data columns (no new datapoints required). </a:t>
            </a:r>
            <a:endParaRPr lang="en-US" sz="1200" dirty="0"/>
          </a:p>
        </p:txBody>
      </p:sp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7524598" y="2747772"/>
            <a:ext cx="152705" cy="152705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7401154" y="3901745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60" kern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Previous Architecture</a:t>
            </a:r>
            <a:endParaRPr lang="en-US" sz="1200" dirty="0"/>
          </a:p>
        </p:txBody>
      </p:sp>
      <p:sp>
        <p:nvSpPr>
          <p:cNvPr id="34" name="Text 20"/>
          <p:cNvSpPr txBox="1"/>
          <p:nvPr/>
        </p:nvSpPr>
        <p:spPr>
          <a:xfrm>
            <a:off x="10659161" y="3901745"/>
            <a:ext cx="9912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60" kern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2-3 Weeks</a:t>
            </a:r>
            <a:endParaRPr lang="en-US" sz="1200" dirty="0"/>
          </a:p>
        </p:txBody>
      </p:sp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52" b="-52"/>
          <a:stretch/>
        </p:blipFill>
        <p:spPr>
          <a:xfrm>
            <a:off x="7401154" y="4187038"/>
            <a:ext cx="4172407" cy="267005"/>
          </a:xfrm>
          <a:prstGeom prst="rect">
            <a:avLst/>
          </a:prstGeom>
        </p:spPr>
      </p:pic>
      <p:sp>
        <p:nvSpPr>
          <p:cNvPr id="36" name="Text 21"/>
          <p:cNvSpPr txBox="1"/>
          <p:nvPr/>
        </p:nvSpPr>
        <p:spPr>
          <a:xfrm>
            <a:off x="7401154" y="4187038"/>
            <a:ext cx="4286707" cy="267005"/>
          </a:xfrm>
          <a:prstGeom prst="rect">
            <a:avLst/>
          </a:prstGeom>
          <a:solidFill>
            <a:srgbClr val="9CA3A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Ingestion Loop</a:t>
            </a:r>
            <a:endParaRPr lang="en-US" sz="1200" dirty="0"/>
          </a:p>
        </p:txBody>
      </p:sp>
      <p:pic>
        <p:nvPicPr>
          <p:cNvPr id="37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9415577" y="4613148"/>
            <a:ext cx="142646" cy="190195"/>
          </a:xfrm>
          <a:prstGeom prst="rect">
            <a:avLst/>
          </a:prstGeom>
        </p:spPr>
      </p:pic>
      <p:sp>
        <p:nvSpPr>
          <p:cNvPr id="38" name="Text 22"/>
          <p:cNvSpPr txBox="1"/>
          <p:nvPr/>
        </p:nvSpPr>
        <p:spPr>
          <a:xfrm>
            <a:off x="7401154" y="5047488"/>
            <a:ext cx="1591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60" kern="0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S3 Caching</a:t>
            </a:r>
            <a:endParaRPr lang="en-US" sz="1200" dirty="0"/>
          </a:p>
        </p:txBody>
      </p:sp>
      <p:sp>
        <p:nvSpPr>
          <p:cNvPr id="39" name="Text 23"/>
          <p:cNvSpPr txBox="1"/>
          <p:nvPr/>
        </p:nvSpPr>
        <p:spPr>
          <a:xfrm>
            <a:off x="10796321" y="5047488"/>
            <a:ext cx="857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60" kern="0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4-5 Days</a:t>
            </a:r>
            <a:endParaRPr lang="en-US" sz="1200" dirty="0"/>
          </a:p>
        </p:txBody>
      </p:sp>
      <p:pic>
        <p:nvPicPr>
          <p:cNvPr id="40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-52" b="-52"/>
          <a:stretch/>
        </p:blipFill>
        <p:spPr>
          <a:xfrm>
            <a:off x="7401154" y="5332781"/>
            <a:ext cx="4172407" cy="267005"/>
          </a:xfrm>
          <a:prstGeom prst="rect">
            <a:avLst/>
          </a:prstGeom>
        </p:spPr>
      </p:pic>
      <p:sp>
        <p:nvSpPr>
          <p:cNvPr id="41" name="Text 24"/>
          <p:cNvSpPr txBox="1"/>
          <p:nvPr/>
        </p:nvSpPr>
        <p:spPr>
          <a:xfrm>
            <a:off x="7401154" y="5332781"/>
            <a:ext cx="1543507" cy="267005"/>
          </a:xfrm>
          <a:prstGeom prst="rect">
            <a:avLst/>
          </a:prstGeom>
          <a:solidFill>
            <a:srgbClr val="10B98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Cached Access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8165592" y="5751576"/>
            <a:ext cx="2648102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~75% Reduction in Turnaround Time </a:t>
            </a:r>
            <a:endParaRPr lang="en-US" sz="900" dirty="0"/>
          </a:p>
        </p:txBody>
      </p:sp>
      <p:pic>
        <p:nvPicPr>
          <p:cNvPr id="43" name="Image 15" descr="preencoded.png">    </p:cNvPr>
          <p:cNvPicPr>
            <a:picLocks noChangeAspect="1"/>
          </p:cNvPicPr>
          <p:nvPr/>
        </p:nvPicPr>
        <p:blipFill>
          <a:blip r:embed="rId16"/>
          <a:srcRect l="-2571" r="-2571" t="0" b="0"/>
          <a:stretch/>
        </p:blipFill>
        <p:spPr>
          <a:xfrm>
            <a:off x="8364931" y="5832958"/>
            <a:ext cx="105156" cy="114300"/>
          </a:xfrm>
          <a:prstGeom prst="rect">
            <a:avLst/>
          </a:prstGeom>
        </p:spPr>
      </p:pic>
      <p:pic>
        <p:nvPicPr>
          <p:cNvPr id="44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-450" b="-450"/>
          <a:stretch/>
        </p:blipFill>
        <p:spPr>
          <a:xfrm>
            <a:off x="381305" y="381305"/>
            <a:ext cx="304495" cy="19202"/>
          </a:xfrm>
          <a:prstGeom prst="rect">
            <a:avLst/>
          </a:prstGeom>
        </p:spPr>
      </p:pic>
      <p:sp>
        <p:nvSpPr>
          <p:cNvPr id="45" name="Text 26"/>
          <p:cNvSpPr txBox="1"/>
          <p:nvPr/>
        </p:nvSpPr>
        <p:spPr>
          <a:xfrm>
            <a:off x="381305" y="552298"/>
            <a:ext cx="23774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Tuning</a:t>
            </a:r>
            <a:endParaRPr lang="en-US" sz="900" dirty="0"/>
          </a:p>
        </p:txBody>
      </p:sp>
      <p:sp>
        <p:nvSpPr>
          <p:cNvPr id="46" name="Shape 27"/>
          <p:cNvSpPr/>
          <p:nvPr/>
        </p:nvSpPr>
        <p:spPr>
          <a:xfrm>
            <a:off x="381305" y="4543654"/>
            <a:ext cx="381305" cy="381305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47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495605" y="4657954"/>
            <a:ext cx="152705" cy="152705"/>
          </a:xfrm>
          <a:prstGeom prst="rect">
            <a:avLst/>
          </a:prstGeom>
        </p:spPr>
      </p:pic>
      <p:sp>
        <p:nvSpPr>
          <p:cNvPr id="48" name="Text 28"/>
          <p:cNvSpPr txBox="1"/>
          <p:nvPr/>
        </p:nvSpPr>
        <p:spPr>
          <a:xfrm>
            <a:off x="381305" y="5076749"/>
            <a:ext cx="237195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Smart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Storage </a:t>
            </a:r>
            <a:endParaRPr lang="en-US" sz="1800" dirty="0"/>
          </a:p>
        </p:txBody>
      </p:sp>
      <p:sp>
        <p:nvSpPr>
          <p:cNvPr id="49" name="Shape 29"/>
          <p:cNvSpPr/>
          <p:nvPr/>
        </p:nvSpPr>
        <p:spPr>
          <a:xfrm>
            <a:off x="381305" y="5800954"/>
            <a:ext cx="19202" cy="37124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50" name="Text 30"/>
          <p:cNvSpPr txBox="1"/>
          <p:nvPr/>
        </p:nvSpPr>
        <p:spPr>
          <a:xfrm>
            <a:off x="514807" y="5800954"/>
            <a:ext cx="2229307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Decoupling ingestion from computation to accelerate iterations.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3047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5000"/>
          </a:blip>
          <a:srcRect l="-38880" r="-38880" t="0" b="0"/>
          <a:stretch/>
        </p:blipFill>
        <p:spPr>
          <a:xfrm>
            <a:off x="0" y="0"/>
            <a:ext cx="3047695" cy="6858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047695" y="0"/>
            <a:ext cx="9144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3504895" y="457200"/>
            <a:ext cx="1324051" cy="228600"/>
          </a:xfrm>
          <a:prstGeom prst="roundRect">
            <a:avLst>
              <a:gd name="adj" fmla="val 40000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3504895" y="457200"/>
            <a:ext cx="1381658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Analysis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3504895" y="761695"/>
            <a:ext cx="874989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Business Impact of Performance Redesign</a:t>
            </a:r>
            <a:endParaRPr lang="en-US" sz="2700" dirty="0"/>
          </a:p>
        </p:txBody>
      </p:sp>
      <p:sp>
        <p:nvSpPr>
          <p:cNvPr id="10" name="Text 6"/>
          <p:cNvSpPr txBox="1"/>
          <p:nvPr/>
        </p:nvSpPr>
        <p:spPr>
          <a:xfrm>
            <a:off x="3504895" y="1266444"/>
            <a:ext cx="83439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Transforming technical optimizations into strategic business advantages.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-8" r="-8" t="0" b="0"/>
          <a:stretch/>
        </p:blipFill>
        <p:spPr>
          <a:xfrm>
            <a:off x="3504895" y="1837944"/>
            <a:ext cx="8229600" cy="203088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866998" y="2143354"/>
            <a:ext cx="262524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Time-to-Delivery</a:t>
            </a:r>
            <a:endParaRPr lang="en-US" sz="900" dirty="0"/>
          </a:p>
        </p:txBody>
      </p:sp>
      <p:sp>
        <p:nvSpPr>
          <p:cNvPr id="13" name="Text 8"/>
          <p:cNvSpPr txBox="1"/>
          <p:nvPr/>
        </p:nvSpPr>
        <p:spPr>
          <a:xfrm>
            <a:off x="3866998" y="2371954"/>
            <a:ext cx="11420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28%</a:t>
            </a:r>
            <a:endParaRPr lang="en-US" sz="3600" dirty="0"/>
          </a:p>
        </p:txBody>
      </p:sp>
      <p:sp>
        <p:nvSpPr>
          <p:cNvPr id="14" name="Text 9"/>
          <p:cNvSpPr txBox="1"/>
          <p:nvPr/>
        </p:nvSpPr>
        <p:spPr>
          <a:xfrm>
            <a:off x="5031029" y="2572207"/>
            <a:ext cx="61264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3866998" y="2915107"/>
            <a:ext cx="2600554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delivery timeline significantly compressed, accelerating time-to-insight for investment teams.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387998" y="2396642"/>
            <a:ext cx="9144" cy="914400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702552" y="2396642"/>
            <a:ext cx="142829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Previous Architecture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10917022" y="2396642"/>
            <a:ext cx="5907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Months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702552" y="2586838"/>
            <a:ext cx="4733849" cy="152705"/>
          </a:xfrm>
          <a:prstGeom prst="roundRect">
            <a:avLst>
              <a:gd name="adj" fmla="val 598802"/>
            </a:avLst>
          </a:prstGeom>
          <a:solidFill>
            <a:srgbClr val="BFDB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702552" y="2586838"/>
            <a:ext cx="4733849" cy="152705"/>
          </a:xfrm>
          <a:prstGeom prst="roundRect">
            <a:avLst>
              <a:gd name="adj" fmla="val 598802"/>
            </a:avLst>
          </a:prstGeom>
          <a:solidFill>
            <a:srgbClr val="9CA3A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702552" y="2968142"/>
            <a:ext cx="138348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Architecture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10906963" y="2968142"/>
            <a:ext cx="6007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Months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6702552" y="3158338"/>
            <a:ext cx="4733849" cy="152705"/>
          </a:xfrm>
          <a:prstGeom prst="roundRect">
            <a:avLst>
              <a:gd name="adj" fmla="val 598802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96" b="-96"/>
          <a:stretch/>
        </p:blipFill>
        <p:spPr>
          <a:xfrm>
            <a:off x="6702552" y="3158338"/>
            <a:ext cx="3356762" cy="152705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3504895" y="4098341"/>
            <a:ext cx="2590495" cy="2762402"/>
          </a:xfrm>
          <a:prstGeom prst="roundRect">
            <a:avLst>
              <a:gd name="adj" fmla="val 15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877056" y="4469587"/>
            <a:ext cx="190195" cy="19019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3743554" y="4945990"/>
            <a:ext cx="251642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Iteration Cycles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3743554" y="5288890"/>
            <a:ext cx="2190902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Rapid feedback loops allow for quicker validation of new ESG methodologies.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743554" y="6307531"/>
            <a:ext cx="2115007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3933749" y="6470294"/>
            <a:ext cx="200893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Metric Refinement </a:t>
            </a:r>
            <a:endParaRPr lang="en-US" sz="90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743554" y="6488582"/>
            <a:ext cx="114300" cy="114300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6324905" y="4098341"/>
            <a:ext cx="2590495" cy="2762402"/>
          </a:xfrm>
          <a:prstGeom prst="roundRect">
            <a:avLst>
              <a:gd name="adj" fmla="val 15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6562649" y="4336085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696151" y="4469587"/>
            <a:ext cx="190195" cy="190195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6562649" y="4945990"/>
            <a:ext cx="242316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Responsiveness &amp; Scope</a:t>
            </a:r>
            <a:endParaRPr lang="en-US" sz="1300" dirty="0"/>
          </a:p>
        </p:txBody>
      </p:sp>
      <p:sp>
        <p:nvSpPr>
          <p:cNvPr id="36" name="Text 27"/>
          <p:cNvSpPr txBox="1"/>
          <p:nvPr/>
        </p:nvSpPr>
        <p:spPr>
          <a:xfrm>
            <a:off x="6562649" y="5288890"/>
            <a:ext cx="2190902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expanding ESG scope and enables instant response to ad-hoc Sustainability Office requests.</a:t>
            </a:r>
            <a:endParaRPr lang="en-US" sz="1000" dirty="0"/>
          </a:p>
        </p:txBody>
      </p:sp>
      <p:sp>
        <p:nvSpPr>
          <p:cNvPr id="37" name="Shape 28"/>
          <p:cNvSpPr/>
          <p:nvPr/>
        </p:nvSpPr>
        <p:spPr>
          <a:xfrm>
            <a:off x="6562649" y="6307531"/>
            <a:ext cx="2115007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38" name="Text 29"/>
          <p:cNvSpPr txBox="1"/>
          <p:nvPr/>
        </p:nvSpPr>
        <p:spPr>
          <a:xfrm>
            <a:off x="6752844" y="6470294"/>
            <a:ext cx="200893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338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Service Agility </a:t>
            </a:r>
            <a:endParaRPr lang="en-US" sz="900" dirty="0"/>
          </a:p>
        </p:txBody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562649" y="6488582"/>
            <a:ext cx="114300" cy="114300"/>
          </a:xfrm>
          <a:prstGeom prst="rect">
            <a:avLst/>
          </a:prstGeom>
        </p:spPr>
      </p:pic>
      <p:sp>
        <p:nvSpPr>
          <p:cNvPr id="40" name="Shape 30"/>
          <p:cNvSpPr/>
          <p:nvPr/>
        </p:nvSpPr>
        <p:spPr>
          <a:xfrm>
            <a:off x="9144000" y="4098341"/>
            <a:ext cx="2590495" cy="2762402"/>
          </a:xfrm>
          <a:prstGeom prst="roundRect">
            <a:avLst>
              <a:gd name="adj" fmla="val 15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9491472" y="4469587"/>
            <a:ext cx="237744" cy="190195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9381744" y="4945990"/>
            <a:ext cx="219913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Throughput</a:t>
            </a:r>
            <a:endParaRPr lang="en-US" sz="1300" dirty="0"/>
          </a:p>
        </p:txBody>
      </p:sp>
      <p:sp>
        <p:nvSpPr>
          <p:cNvPr id="43" name="Text 32"/>
          <p:cNvSpPr txBox="1"/>
          <p:nvPr/>
        </p:nvSpPr>
        <p:spPr>
          <a:xfrm>
            <a:off x="9381744" y="5288890"/>
            <a:ext cx="2190902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Delivering more metric modules without increasing team headcount or infrastructure costs.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9381744" y="6307531"/>
            <a:ext cx="2115007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45" name="Text 34"/>
          <p:cNvSpPr txBox="1"/>
          <p:nvPr/>
        </p:nvSpPr>
        <p:spPr>
          <a:xfrm>
            <a:off x="9571939" y="6470294"/>
            <a:ext cx="200893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Capacity Flat </a:t>
            </a:r>
            <a:endParaRPr lang="en-US" sz="900" dirty="0"/>
          </a:p>
        </p:txBody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9381744" y="6488582"/>
            <a:ext cx="114300" cy="114300"/>
          </a:xfrm>
          <a:prstGeom prst="rect">
            <a:avLst/>
          </a:prstGeom>
        </p:spPr>
      </p:pic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450" b="-450"/>
          <a:stretch/>
        </p:blipFill>
        <p:spPr>
          <a:xfrm>
            <a:off x="381305" y="381305"/>
            <a:ext cx="304495" cy="19202"/>
          </a:xfrm>
          <a:prstGeom prst="rect">
            <a:avLst/>
          </a:prstGeom>
        </p:spPr>
      </p:pic>
      <p:sp>
        <p:nvSpPr>
          <p:cNvPr id="48" name="Text 35"/>
          <p:cNvSpPr txBox="1"/>
          <p:nvPr/>
        </p:nvSpPr>
        <p:spPr>
          <a:xfrm>
            <a:off x="381305" y="552298"/>
            <a:ext cx="23774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Value</a:t>
            </a:r>
            <a:endParaRPr lang="en-US" sz="900" dirty="0"/>
          </a:p>
        </p:txBody>
      </p:sp>
      <p:sp>
        <p:nvSpPr>
          <p:cNvPr id="49" name="Shape 36"/>
          <p:cNvSpPr/>
          <p:nvPr/>
        </p:nvSpPr>
        <p:spPr>
          <a:xfrm>
            <a:off x="381305" y="4543654"/>
            <a:ext cx="381305" cy="381305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495605" y="4657954"/>
            <a:ext cx="152705" cy="152705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381305" y="5076749"/>
            <a:ext cx="237195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Tangible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Outcomes </a:t>
            </a:r>
            <a:endParaRPr lang="en-US" sz="1800" dirty="0"/>
          </a:p>
        </p:txBody>
      </p:sp>
      <p:sp>
        <p:nvSpPr>
          <p:cNvPr id="52" name="Shape 38"/>
          <p:cNvSpPr/>
          <p:nvPr/>
        </p:nvSpPr>
        <p:spPr>
          <a:xfrm>
            <a:off x="381305" y="5800954"/>
            <a:ext cx="19202" cy="37124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53" name="Text 39"/>
          <p:cNvSpPr txBox="1"/>
          <p:nvPr/>
        </p:nvSpPr>
        <p:spPr>
          <a:xfrm>
            <a:off x="514807" y="5800954"/>
            <a:ext cx="2229307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Quantifiable improvements in delivery velocity and operational efficiency.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3047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10000"/>
          </a:blip>
          <a:srcRect l="-38880" r="-38880" t="0" b="0"/>
          <a:stretch/>
        </p:blipFill>
        <p:spPr>
          <a:xfrm>
            <a:off x="0" y="0"/>
            <a:ext cx="3047695" cy="6858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047695" y="0"/>
            <a:ext cx="9144000" cy="68580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3504895" y="457200"/>
            <a:ext cx="1914754" cy="304495"/>
          </a:xfrm>
          <a:prstGeom prst="roundRect">
            <a:avLst>
              <a:gd name="adj" fmla="val 18769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3504895" y="457200"/>
            <a:ext cx="1991563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Dive Topic 2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533034" y="533095"/>
            <a:ext cx="9144" cy="152705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656478" y="533095"/>
            <a:ext cx="1458468" cy="1527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 Automation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3504895" y="914400"/>
            <a:ext cx="84207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Testing Bottlenecks Limiting Velocity</a:t>
            </a:r>
            <a:endParaRPr lang="en-US" sz="2700" dirty="0"/>
          </a:p>
        </p:txBody>
      </p:sp>
      <p:sp>
        <p:nvSpPr>
          <p:cNvPr id="12" name="Text 8"/>
          <p:cNvSpPr txBox="1"/>
          <p:nvPr/>
        </p:nvSpPr>
        <p:spPr>
          <a:xfrm>
            <a:off x="3504895" y="1457554"/>
            <a:ext cx="64776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Legacy SIT &amp; UAT processes were manual, labor-intensive, and error-prone, creating friction in the release cycle.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-6" r="-6" t="0" b="0"/>
          <a:stretch/>
        </p:blipFill>
        <p:spPr>
          <a:xfrm>
            <a:off x="3504895" y="2295144"/>
            <a:ext cx="4000500" cy="198333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771900" y="2523744"/>
            <a:ext cx="381305" cy="381305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-760" r="-760" t="0" b="0"/>
          <a:stretch/>
        </p:blipFill>
        <p:spPr>
          <a:xfrm>
            <a:off x="3886200" y="2628900"/>
            <a:ext cx="152705" cy="171907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392570" y="2523744"/>
            <a:ext cx="886054" cy="209398"/>
          </a:xfrm>
          <a:prstGeom prst="roundRect">
            <a:avLst>
              <a:gd name="adj" fmla="val 79396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6392570" y="2523744"/>
            <a:ext cx="962863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Latency</a:t>
            </a:r>
            <a:endParaRPr lang="en-US" sz="900" dirty="0"/>
          </a:p>
        </p:txBody>
      </p:sp>
      <p:sp>
        <p:nvSpPr>
          <p:cNvPr id="18" name="Text 12"/>
          <p:cNvSpPr txBox="1"/>
          <p:nvPr/>
        </p:nvSpPr>
        <p:spPr>
          <a:xfrm>
            <a:off x="3771900" y="3057754"/>
            <a:ext cx="3620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Slow EUC Query Execution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3771900" y="3400654"/>
            <a:ext cx="3581705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Queries were fired manually against pre-prod/prod environments, resulting in long turnaround times for large datasets.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-6" r="-6" t="0" b="0"/>
          <a:stretch/>
        </p:blipFill>
        <p:spPr>
          <a:xfrm>
            <a:off x="7733995" y="2295144"/>
            <a:ext cx="4000500" cy="1983334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8001000" y="2523744"/>
            <a:ext cx="381305" cy="381305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06156" y="2628900"/>
            <a:ext cx="171907" cy="171907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10830154" y="2523744"/>
            <a:ext cx="676656" cy="209398"/>
          </a:xfrm>
          <a:prstGeom prst="roundRect">
            <a:avLst>
              <a:gd name="adj" fmla="val 79396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10830154" y="2523744"/>
            <a:ext cx="752551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Risk</a:t>
            </a:r>
            <a:endParaRPr lang="en-US" sz="900" dirty="0"/>
          </a:p>
        </p:txBody>
      </p:sp>
      <p:sp>
        <p:nvSpPr>
          <p:cNvPr id="25" name="Text 17"/>
          <p:cNvSpPr txBox="1"/>
          <p:nvPr/>
        </p:nvSpPr>
        <p:spPr>
          <a:xfrm>
            <a:off x="8001000" y="3057754"/>
            <a:ext cx="3620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Parameterization</a:t>
            </a:r>
            <a:endParaRPr lang="en-US" sz="1300" dirty="0"/>
          </a:p>
        </p:txBody>
      </p:sp>
      <p:sp>
        <p:nvSpPr>
          <p:cNvPr id="26" name="Text 18"/>
          <p:cNvSpPr txBox="1"/>
          <p:nvPr/>
        </p:nvSpPr>
        <p:spPr>
          <a:xfrm>
            <a:off x="8001000" y="3400654"/>
            <a:ext cx="3581705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switching across test ranges was performed by hand, introducing a high risk of human error during configuration.</a:t>
            </a:r>
            <a:endParaRPr lang="en-US" sz="10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rcRect l="-6" r="-6" t="0" b="0"/>
          <a:stretch/>
        </p:blipFill>
        <p:spPr>
          <a:xfrm>
            <a:off x="3504895" y="4507992"/>
            <a:ext cx="4000500" cy="1983334"/>
          </a:xfrm>
          <a:prstGeom prst="rect">
            <a:avLst/>
          </a:prstGeom>
        </p:spPr>
      </p:pic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3877056" y="4840834"/>
            <a:ext cx="171907" cy="171907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6377026" y="4736592"/>
            <a:ext cx="905256" cy="209398"/>
          </a:xfrm>
          <a:prstGeom prst="roundRect">
            <a:avLst>
              <a:gd name="adj" fmla="val 79396"/>
            </a:avLst>
          </a:prstGeom>
          <a:solidFill>
            <a:srgbClr val="FFED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0"/>
          <p:cNvSpPr txBox="1"/>
          <p:nvPr/>
        </p:nvSpPr>
        <p:spPr>
          <a:xfrm>
            <a:off x="6377026" y="4736592"/>
            <a:ext cx="981151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34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Scale</a:t>
            </a:r>
            <a:endParaRPr lang="en-US" sz="900" dirty="0"/>
          </a:p>
        </p:txBody>
      </p:sp>
      <p:sp>
        <p:nvSpPr>
          <p:cNvPr id="31" name="Text 21"/>
          <p:cNvSpPr txBox="1"/>
          <p:nvPr/>
        </p:nvSpPr>
        <p:spPr>
          <a:xfrm>
            <a:off x="3771900" y="5269687"/>
            <a:ext cx="3620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Scalable Regression</a:t>
            </a:r>
            <a:endParaRPr lang="en-US" sz="1300" dirty="0"/>
          </a:p>
        </p:txBody>
      </p:sp>
      <p:sp>
        <p:nvSpPr>
          <p:cNvPr id="32" name="Text 22"/>
          <p:cNvSpPr txBox="1"/>
          <p:nvPr/>
        </p:nvSpPr>
        <p:spPr>
          <a:xfrm>
            <a:off x="3771900" y="5612587"/>
            <a:ext cx="3581705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Impossible to validate wide historical ranges efficiently; overall testing scope was strictly limited by human capacity.</a:t>
            </a:r>
            <a:endParaRPr lang="en-US" sz="10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rcRect l="-6" r="-6" t="0" b="0"/>
          <a:stretch/>
        </p:blipFill>
        <p:spPr>
          <a:xfrm>
            <a:off x="7733995" y="4507992"/>
            <a:ext cx="4000500" cy="1983334"/>
          </a:xfrm>
          <a:prstGeom prst="rect">
            <a:avLst/>
          </a:prstGeom>
        </p:spPr>
      </p:pic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rcRect l="-1773" r="-1773" t="0" b="0"/>
          <a:stretch/>
        </p:blipFill>
        <p:spPr>
          <a:xfrm>
            <a:off x="8124444" y="4840834"/>
            <a:ext cx="133502" cy="171907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10597896" y="4736592"/>
            <a:ext cx="914400" cy="209398"/>
          </a:xfrm>
          <a:prstGeom prst="roundRect">
            <a:avLst>
              <a:gd name="adj" fmla="val 79396"/>
            </a:avLst>
          </a:prstGeom>
          <a:solidFill>
            <a:srgbClr val="FFED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24"/>
          <p:cNvSpPr txBox="1"/>
          <p:nvPr/>
        </p:nvSpPr>
        <p:spPr>
          <a:xfrm>
            <a:off x="10597896" y="4736592"/>
            <a:ext cx="1028700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34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Audit Trail</a:t>
            </a:r>
            <a:endParaRPr lang="en-US" sz="900" dirty="0"/>
          </a:p>
        </p:txBody>
      </p:sp>
      <p:sp>
        <p:nvSpPr>
          <p:cNvPr id="37" name="Text 25"/>
          <p:cNvSpPr txBox="1"/>
          <p:nvPr/>
        </p:nvSpPr>
        <p:spPr>
          <a:xfrm>
            <a:off x="8001000" y="5269687"/>
            <a:ext cx="36201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Fragmented Results Tracking</a:t>
            </a:r>
            <a:endParaRPr lang="en-US" sz="1300" dirty="0"/>
          </a:p>
        </p:txBody>
      </p:sp>
      <p:sp>
        <p:nvSpPr>
          <p:cNvPr id="38" name="Text 26"/>
          <p:cNvSpPr txBox="1"/>
          <p:nvPr/>
        </p:nvSpPr>
        <p:spPr>
          <a:xfrm>
            <a:off x="8001000" y="5612587"/>
            <a:ext cx="3581705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results were tracked outside the system in disparate files, making it difficult to compare runs or audit historical quality.</a:t>
            </a:r>
            <a:endParaRPr lang="en-US" sz="1000" dirty="0"/>
          </a:p>
        </p:txBody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450" b="-450"/>
          <a:stretch/>
        </p:blipFill>
        <p:spPr>
          <a:xfrm>
            <a:off x="381305" y="381305"/>
            <a:ext cx="304495" cy="19202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381305" y="552298"/>
            <a:ext cx="23774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Previous State</a:t>
            </a:r>
            <a:endParaRPr lang="en-US" sz="900" dirty="0"/>
          </a:p>
        </p:txBody>
      </p:sp>
      <p:sp>
        <p:nvSpPr>
          <p:cNvPr id="41" name="Shape 28"/>
          <p:cNvSpPr/>
          <p:nvPr/>
        </p:nvSpPr>
        <p:spPr>
          <a:xfrm>
            <a:off x="381305" y="4358030"/>
            <a:ext cx="381305" cy="381305"/>
          </a:xfrm>
          <a:prstGeom prst="ellipse">
            <a:avLst/>
          </a:prstGeom>
          <a:solidFill>
            <a:srgbClr val="7F1D1D"/>
          </a:solidFill>
          <a:ln w="12700">
            <a:solidFill>
              <a:srgbClr val="B91C1C"/>
            </a:solidFill>
            <a:prstDash val="solid"/>
          </a:ln>
        </p:spPr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495605" y="4472330"/>
            <a:ext cx="152705" cy="152705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381305" y="4891126"/>
            <a:ext cx="237195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Manual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Bottlenecks </a:t>
            </a:r>
            <a:endParaRPr lang="en-US" sz="1800" dirty="0"/>
          </a:p>
        </p:txBody>
      </p:sp>
      <p:sp>
        <p:nvSpPr>
          <p:cNvPr id="44" name="Shape 30"/>
          <p:cNvSpPr/>
          <p:nvPr/>
        </p:nvSpPr>
        <p:spPr>
          <a:xfrm>
            <a:off x="381305" y="5615330"/>
            <a:ext cx="19202" cy="56235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45" name="Text 31"/>
          <p:cNvSpPr txBox="1"/>
          <p:nvPr/>
        </p:nvSpPr>
        <p:spPr>
          <a:xfrm>
            <a:off x="514807" y="5615330"/>
            <a:ext cx="2229307" cy="5623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Legacy testing limitations that existed prior to automated validation framework.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3047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10000"/>
          </a:blip>
          <a:srcRect l="-38880" r="-38880" t="0" b="0"/>
          <a:stretch/>
        </p:blipFill>
        <p:spPr>
          <a:xfrm>
            <a:off x="0" y="0"/>
            <a:ext cx="3047695" cy="6858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047695" y="0"/>
            <a:ext cx="9144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3429000" y="1506017"/>
            <a:ext cx="838230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3429000" y="381305"/>
            <a:ext cx="1295705" cy="228600"/>
          </a:xfrm>
          <a:prstGeom prst="roundRect">
            <a:avLst>
              <a:gd name="adj" fmla="val 400000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3429000" y="381305"/>
            <a:ext cx="1353312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3730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DVE Framework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3429000" y="685800"/>
            <a:ext cx="84966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DVE Architecture: Automated Data Validation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3429000" y="1119226"/>
            <a:ext cx="85267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Standardizing how data validations are defined, executed, and tracked across the enterprise.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3629254" y="1852574"/>
            <a:ext cx="12765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Execution Flow </a:t>
            </a:r>
            <a:endParaRPr lang="en-US" sz="9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-4000" r="-4000" t="0" b="0"/>
          <a:stretch/>
        </p:blipFill>
        <p:spPr>
          <a:xfrm>
            <a:off x="3429000" y="1871777"/>
            <a:ext cx="123444" cy="1143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10603382" y="1814170"/>
            <a:ext cx="1209751" cy="228600"/>
          </a:xfrm>
          <a:prstGeom prst="roundRect">
            <a:avLst>
              <a:gd name="adj" fmla="val 66667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10603382" y="1814170"/>
            <a:ext cx="1267358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Sequential Pipeline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3629254" y="5143500"/>
            <a:ext cx="82963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Key Engineering Properties </a:t>
            </a:r>
            <a:endParaRPr lang="en-US" sz="9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-4000" r="-4000" t="0" b="0"/>
          <a:stretch/>
        </p:blipFill>
        <p:spPr>
          <a:xfrm>
            <a:off x="3429000" y="5162702"/>
            <a:ext cx="123444" cy="114300"/>
          </a:xfrm>
          <a:prstGeom prst="rect">
            <a:avLst/>
          </a:prstGeom>
        </p:spPr>
      </p:pic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rcRect l="-8" r="-8" t="0" b="0"/>
          <a:stretch/>
        </p:blipFill>
        <p:spPr>
          <a:xfrm>
            <a:off x="3429000" y="5447995"/>
            <a:ext cx="1981505" cy="1028700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610051" y="5619902"/>
            <a:ext cx="152705" cy="152705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3877056" y="5600700"/>
            <a:ext cx="10277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Deduplicated</a:t>
            </a:r>
            <a:endParaRPr lang="en-US" sz="1000" dirty="0"/>
          </a:p>
        </p:txBody>
      </p:sp>
      <p:sp>
        <p:nvSpPr>
          <p:cNvPr id="21" name="Text 13"/>
          <p:cNvSpPr txBox="1"/>
          <p:nvPr/>
        </p:nvSpPr>
        <p:spPr>
          <a:xfrm>
            <a:off x="3610051" y="5867705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extraction avoids redundant data pulls across tests.</a:t>
            </a:r>
            <a:endParaRPr lang="en-US" sz="9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rcRect l="-8" r="-8" t="0" b="0"/>
          <a:stretch/>
        </p:blipFill>
        <p:spPr>
          <a:xfrm>
            <a:off x="5562295" y="5447995"/>
            <a:ext cx="1981505" cy="1028700"/>
          </a:xfrm>
          <a:prstGeom prst="rect">
            <a:avLst/>
          </a:prstGeom>
        </p:spPr>
      </p:pic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743346" y="5619902"/>
            <a:ext cx="152705" cy="152705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6010351" y="5600700"/>
            <a:ext cx="10433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</a:t>
            </a:r>
            <a:endParaRPr lang="en-US" sz="1000" dirty="0"/>
          </a:p>
        </p:txBody>
      </p:sp>
      <p:sp>
        <p:nvSpPr>
          <p:cNvPr id="25" name="Text 15"/>
          <p:cNvSpPr txBox="1"/>
          <p:nvPr/>
        </p:nvSpPr>
        <p:spPr>
          <a:xfrm>
            <a:off x="5743346" y="5867705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Comparison rules guarantee reproducible results every run.</a:t>
            </a:r>
            <a:endParaRPr lang="en-US" sz="90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rcRect l="-8" r="-8" t="0" b="0"/>
          <a:stretch/>
        </p:blipFill>
        <p:spPr>
          <a:xfrm>
            <a:off x="7696505" y="5447995"/>
            <a:ext cx="1981505" cy="1028700"/>
          </a:xfrm>
          <a:prstGeom prst="rect">
            <a:avLst/>
          </a:prstGeom>
        </p:spPr>
      </p:pic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7877556" y="5619902"/>
            <a:ext cx="152705" cy="152705"/>
          </a:xfrm>
          <a:prstGeom prst="rect">
            <a:avLst/>
          </a:prstGeom>
        </p:spPr>
      </p:pic>
      <p:sp>
        <p:nvSpPr>
          <p:cNvPr id="28" name="Text 16"/>
          <p:cNvSpPr txBox="1"/>
          <p:nvPr/>
        </p:nvSpPr>
        <p:spPr>
          <a:xfrm>
            <a:off x="8143646" y="5600700"/>
            <a:ext cx="111099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Config-Driven</a:t>
            </a:r>
            <a:endParaRPr lang="en-US" sz="1000" dirty="0"/>
          </a:p>
        </p:txBody>
      </p:sp>
      <p:sp>
        <p:nvSpPr>
          <p:cNvPr id="29" name="Text 17"/>
          <p:cNvSpPr txBox="1"/>
          <p:nvPr/>
        </p:nvSpPr>
        <p:spPr>
          <a:xfrm>
            <a:off x="7877556" y="5867705"/>
            <a:ext cx="1714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 new tests via YAML without code changes.</a:t>
            </a:r>
            <a:endParaRPr lang="en-US" sz="900" dirty="0"/>
          </a:p>
        </p:txBody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rcRect l="-8" r="-8" t="0" b="0"/>
          <a:stretch/>
        </p:blipFill>
        <p:spPr>
          <a:xfrm>
            <a:off x="9829800" y="5447995"/>
            <a:ext cx="1981505" cy="1028700"/>
          </a:xfrm>
          <a:prstGeom prst="rect">
            <a:avLst/>
          </a:prstGeom>
        </p:spPr>
      </p:pic>
      <p:pic>
        <p:nvPicPr>
          <p:cNvPr id="31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10010851" y="5619902"/>
            <a:ext cx="152705" cy="152705"/>
          </a:xfrm>
          <a:prstGeom prst="rect">
            <a:avLst/>
          </a:prstGeom>
        </p:spPr>
      </p:pic>
      <p:sp>
        <p:nvSpPr>
          <p:cNvPr id="32" name="Text 18"/>
          <p:cNvSpPr txBox="1"/>
          <p:nvPr/>
        </p:nvSpPr>
        <p:spPr>
          <a:xfrm>
            <a:off x="10277856" y="5600700"/>
            <a:ext cx="6693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Scalable</a:t>
            </a:r>
            <a:endParaRPr lang="en-US" sz="1000" dirty="0"/>
          </a:p>
        </p:txBody>
      </p:sp>
      <p:sp>
        <p:nvSpPr>
          <p:cNvPr id="33" name="Text 19"/>
          <p:cNvSpPr txBox="1"/>
          <p:nvPr/>
        </p:nvSpPr>
        <p:spPr>
          <a:xfrm>
            <a:off x="10010851" y="5867705"/>
            <a:ext cx="1714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Scales to massive datasets without linear manual effort.</a:t>
            </a:r>
            <a:endParaRPr lang="en-US" sz="900" dirty="0"/>
          </a:p>
        </p:txBody>
      </p:sp>
      <p:pic>
        <p:nvPicPr>
          <p:cNvPr id="34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450" b="-450"/>
          <a:stretch/>
        </p:blipFill>
        <p:spPr>
          <a:xfrm>
            <a:off x="381305" y="381305"/>
            <a:ext cx="304495" cy="19202"/>
          </a:xfrm>
          <a:prstGeom prst="rect">
            <a:avLst/>
          </a:prstGeom>
        </p:spPr>
      </p:pic>
      <p:sp>
        <p:nvSpPr>
          <p:cNvPr id="35" name="Text 20"/>
          <p:cNvSpPr txBox="1"/>
          <p:nvPr/>
        </p:nvSpPr>
        <p:spPr>
          <a:xfrm>
            <a:off x="381305" y="552298"/>
            <a:ext cx="23774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36" name="Shape 21"/>
          <p:cNvSpPr/>
          <p:nvPr/>
        </p:nvSpPr>
        <p:spPr>
          <a:xfrm>
            <a:off x="381305" y="4543654"/>
            <a:ext cx="381305" cy="381305"/>
          </a:xfrm>
          <a:prstGeom prst="ellipse">
            <a:avLst/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pic>
        <p:nvPicPr>
          <p:cNvPr id="37" name="Image 13" descr="preencoded.png">    </p:cNvPr>
          <p:cNvPicPr>
            <a:picLocks noChangeAspect="1"/>
          </p:cNvPicPr>
          <p:nvPr/>
        </p:nvPicPr>
        <p:blipFill>
          <a:blip r:embed="rId14"/>
          <a:srcRect l="-33" r="-33" t="0" b="0"/>
          <a:stretch/>
        </p:blipFill>
        <p:spPr>
          <a:xfrm>
            <a:off x="485546" y="4657954"/>
            <a:ext cx="171907" cy="152705"/>
          </a:xfrm>
          <a:prstGeom prst="rect">
            <a:avLst/>
          </a:prstGeom>
        </p:spPr>
      </p:pic>
      <p:sp>
        <p:nvSpPr>
          <p:cNvPr id="38" name="Text 22"/>
          <p:cNvSpPr txBox="1"/>
          <p:nvPr/>
        </p:nvSpPr>
        <p:spPr>
          <a:xfrm>
            <a:off x="381305" y="5076749"/>
            <a:ext cx="237195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System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Design </a:t>
            </a:r>
            <a:endParaRPr lang="en-US" sz="1800" dirty="0"/>
          </a:p>
        </p:txBody>
      </p:sp>
      <p:sp>
        <p:nvSpPr>
          <p:cNvPr id="39" name="Shape 23"/>
          <p:cNvSpPr/>
          <p:nvPr/>
        </p:nvSpPr>
        <p:spPr>
          <a:xfrm>
            <a:off x="381305" y="5800954"/>
            <a:ext cx="19202" cy="37124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40" name="Text 24"/>
          <p:cNvSpPr txBox="1"/>
          <p:nvPr/>
        </p:nvSpPr>
        <p:spPr>
          <a:xfrm>
            <a:off x="514807" y="5800954"/>
            <a:ext cx="2229307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validation framework ensuring data integrity at scale.</a:t>
            </a:r>
            <a:endParaRPr lang="en-US" sz="900" dirty="0"/>
          </a:p>
        </p:txBody>
      </p:sp>
      <p:pic>
        <p:nvPicPr>
          <p:cNvPr id="41" name="Image 14" descr="preencoded.png">    </p:cNvPr>
          <p:cNvPicPr>
            <a:picLocks noChangeAspect="1"/>
          </p:cNvPicPr>
          <p:nvPr/>
        </p:nvPicPr>
        <p:blipFill>
          <a:blip r:embed="rId15"/>
          <a:srcRect l="-6" r="-6" t="0" b="0"/>
          <a:stretch/>
        </p:blipFill>
        <p:spPr>
          <a:xfrm>
            <a:off x="3429000" y="2195474"/>
            <a:ext cx="1867205" cy="2238451"/>
          </a:xfrm>
          <a:prstGeom prst="rect">
            <a:avLst/>
          </a:prstGeom>
        </p:spPr>
      </p:pic>
      <p:sp>
        <p:nvSpPr>
          <p:cNvPr id="42" name="Shape 25"/>
          <p:cNvSpPr/>
          <p:nvPr/>
        </p:nvSpPr>
        <p:spPr>
          <a:xfrm>
            <a:off x="3629254" y="2395728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3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-100" b="-100"/>
          <a:stretch/>
        </p:blipFill>
        <p:spPr>
          <a:xfrm>
            <a:off x="3724351" y="2471623"/>
            <a:ext cx="114300" cy="152705"/>
          </a:xfrm>
          <a:prstGeom prst="rect">
            <a:avLst/>
          </a:prstGeom>
        </p:spPr>
      </p:pic>
      <p:sp>
        <p:nvSpPr>
          <p:cNvPr id="44" name="Text 26"/>
          <p:cNvSpPr txBox="1"/>
          <p:nvPr/>
        </p:nvSpPr>
        <p:spPr>
          <a:xfrm>
            <a:off x="4969764" y="2471623"/>
            <a:ext cx="2103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00" dirty="0"/>
          </a:p>
        </p:txBody>
      </p:sp>
      <p:sp>
        <p:nvSpPr>
          <p:cNvPr id="45" name="Text 27"/>
          <p:cNvSpPr txBox="1"/>
          <p:nvPr/>
        </p:nvSpPr>
        <p:spPr>
          <a:xfrm>
            <a:off x="3629254" y="2814523"/>
            <a:ext cx="1543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Registry</a:t>
            </a:r>
            <a:endParaRPr lang="en-US" sz="1200" dirty="0"/>
          </a:p>
        </p:txBody>
      </p:sp>
      <p:sp>
        <p:nvSpPr>
          <p:cNvPr id="46" name="Text 28"/>
          <p:cNvSpPr txBox="1"/>
          <p:nvPr/>
        </p:nvSpPr>
        <p:spPr>
          <a:xfrm>
            <a:off x="3629254" y="3119018"/>
            <a:ext cx="1526134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Test definitions stored as </a:t>
            </a:r>
            <a:pPr algn="l" indent="0" marL="0">
              <a:buNone/>
            </a:pPr>
            <a:r>
              <a:rPr lang="en-US" sz="900" dirty="0">
                <a:solidFill>
                  <a:srgbClr val="4F46E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YAML + SQL</a:t>
            </a:r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Fully version-controlled and reusable across environments. </a:t>
            </a:r>
            <a:endParaRPr lang="en-US" sz="900" dirty="0"/>
          </a:p>
        </p:txBody>
      </p:sp>
      <p:pic>
        <p:nvPicPr>
          <p:cNvPr id="47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-180" b="-180"/>
          <a:stretch/>
        </p:blipFill>
        <p:spPr>
          <a:xfrm>
            <a:off x="5419649" y="3238805"/>
            <a:ext cx="95098" cy="152705"/>
          </a:xfrm>
          <a:prstGeom prst="rect">
            <a:avLst/>
          </a:prstGeom>
        </p:spPr>
      </p:pic>
      <p:pic>
        <p:nvPicPr>
          <p:cNvPr id="48" name="Image 17" descr="preencoded.png">    </p:cNvPr>
          <p:cNvPicPr>
            <a:picLocks noChangeAspect="1"/>
          </p:cNvPicPr>
          <p:nvPr/>
        </p:nvPicPr>
        <p:blipFill>
          <a:blip r:embed="rId18"/>
          <a:srcRect l="-6" r="-6" t="0" b="0"/>
          <a:stretch/>
        </p:blipFill>
        <p:spPr>
          <a:xfrm>
            <a:off x="5600700" y="2195474"/>
            <a:ext cx="1867205" cy="2238451"/>
          </a:xfrm>
          <a:prstGeom prst="rect">
            <a:avLst/>
          </a:prstGeom>
        </p:spPr>
      </p:pic>
      <p:sp>
        <p:nvSpPr>
          <p:cNvPr id="49" name="Shape 29"/>
          <p:cNvSpPr/>
          <p:nvPr/>
        </p:nvSpPr>
        <p:spPr>
          <a:xfrm>
            <a:off x="5800954" y="2395728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0" name="Image 18" descr="preencoded.png">    </p:cNvPr>
          <p:cNvPicPr>
            <a:picLocks noChangeAspect="1"/>
          </p:cNvPicPr>
          <p:nvPr/>
        </p:nvPicPr>
        <p:blipFill>
          <a:blip r:embed="rId19"/>
          <a:srcRect l="-33" r="-33" t="0" b="0"/>
          <a:stretch/>
        </p:blipFill>
        <p:spPr>
          <a:xfrm>
            <a:off x="5867705" y="2471623"/>
            <a:ext cx="171907" cy="152705"/>
          </a:xfrm>
          <a:prstGeom prst="rect">
            <a:avLst/>
          </a:prstGeom>
        </p:spPr>
      </p:pic>
      <p:sp>
        <p:nvSpPr>
          <p:cNvPr id="51" name="Text 30"/>
          <p:cNvSpPr txBox="1"/>
          <p:nvPr/>
        </p:nvSpPr>
        <p:spPr>
          <a:xfrm>
            <a:off x="7118604" y="2471623"/>
            <a:ext cx="228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  <p:sp>
        <p:nvSpPr>
          <p:cNvPr id="52" name="Text 31"/>
          <p:cNvSpPr txBox="1"/>
          <p:nvPr/>
        </p:nvSpPr>
        <p:spPr>
          <a:xfrm>
            <a:off x="5800954" y="2814523"/>
            <a:ext cx="1543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Loading</a:t>
            </a:r>
            <a:endParaRPr lang="en-US" sz="1200" dirty="0"/>
          </a:p>
        </p:txBody>
      </p:sp>
      <p:sp>
        <p:nvSpPr>
          <p:cNvPr id="53" name="Text 32"/>
          <p:cNvSpPr txBox="1"/>
          <p:nvPr/>
        </p:nvSpPr>
        <p:spPr>
          <a:xfrm>
            <a:off x="5800954" y="3119018"/>
            <a:ext cx="1526134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Identifies unique datasets needed. Extracts once and </a:t>
            </a:r>
            <a:pPr algn="l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caches as Parquet</a:t>
            </a:r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minimize I/O overhead. </a:t>
            </a:r>
            <a:endParaRPr lang="en-US" sz="900" dirty="0"/>
          </a:p>
        </p:txBody>
      </p:sp>
      <p:pic>
        <p:nvPicPr>
          <p:cNvPr id="54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-180" b="-180"/>
          <a:stretch/>
        </p:blipFill>
        <p:spPr>
          <a:xfrm>
            <a:off x="7591349" y="3238805"/>
            <a:ext cx="95098" cy="152705"/>
          </a:xfrm>
          <a:prstGeom prst="rect">
            <a:avLst/>
          </a:prstGeom>
        </p:spPr>
      </p:pic>
      <p:pic>
        <p:nvPicPr>
          <p:cNvPr id="55" name="Image 20" descr="preencoded.png">    </p:cNvPr>
          <p:cNvPicPr>
            <a:picLocks noChangeAspect="1"/>
          </p:cNvPicPr>
          <p:nvPr/>
        </p:nvPicPr>
        <p:blipFill>
          <a:blip r:embed="rId21"/>
          <a:srcRect l="-6" r="-6" t="0" b="0"/>
          <a:stretch/>
        </p:blipFill>
        <p:spPr>
          <a:xfrm>
            <a:off x="7772400" y="2195474"/>
            <a:ext cx="1867205" cy="2238451"/>
          </a:xfrm>
          <a:prstGeom prst="rect">
            <a:avLst/>
          </a:prstGeom>
        </p:spPr>
      </p:pic>
      <p:sp>
        <p:nvSpPr>
          <p:cNvPr id="56" name="Shape 33"/>
          <p:cNvSpPr/>
          <p:nvPr/>
        </p:nvSpPr>
        <p:spPr>
          <a:xfrm>
            <a:off x="7972654" y="2395728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7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-180" b="-180"/>
          <a:stretch/>
        </p:blipFill>
        <p:spPr>
          <a:xfrm>
            <a:off x="8029346" y="2471623"/>
            <a:ext cx="190195" cy="152705"/>
          </a:xfrm>
          <a:prstGeom prst="rect">
            <a:avLst/>
          </a:prstGeom>
        </p:spPr>
      </p:pic>
      <p:sp>
        <p:nvSpPr>
          <p:cNvPr id="58" name="Text 34"/>
          <p:cNvSpPr txBox="1"/>
          <p:nvPr/>
        </p:nvSpPr>
        <p:spPr>
          <a:xfrm>
            <a:off x="9288475" y="2471623"/>
            <a:ext cx="228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  <p:sp>
        <p:nvSpPr>
          <p:cNvPr id="59" name="Text 35"/>
          <p:cNvSpPr txBox="1"/>
          <p:nvPr/>
        </p:nvSpPr>
        <p:spPr>
          <a:xfrm>
            <a:off x="7972654" y="2814523"/>
            <a:ext cx="15709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 Engine</a:t>
            </a:r>
            <a:endParaRPr lang="en-US" sz="1200" dirty="0"/>
          </a:p>
        </p:txBody>
      </p:sp>
      <p:sp>
        <p:nvSpPr>
          <p:cNvPr id="60" name="Text 36"/>
          <p:cNvSpPr txBox="1"/>
          <p:nvPr/>
        </p:nvSpPr>
        <p:spPr>
          <a:xfrm>
            <a:off x="7972654" y="3119018"/>
            <a:ext cx="1526134" cy="1114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Parameterized SQL execution across date ranges. Applies preprocessing and </a:t>
            </a:r>
            <a:pPr algn="l"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tolerance rules</a:t>
            </a:r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consistently. </a:t>
            </a:r>
            <a:endParaRPr lang="en-US" sz="900" dirty="0"/>
          </a:p>
        </p:txBody>
      </p:sp>
      <p:pic>
        <p:nvPicPr>
          <p:cNvPr id="61" name="Image 22" descr="preencoded.png">    </p:cNvPr>
          <p:cNvPicPr>
            <a:picLocks noChangeAspect="1"/>
          </p:cNvPicPr>
          <p:nvPr/>
        </p:nvPicPr>
        <p:blipFill>
          <a:blip r:embed="rId23"/>
          <a:srcRect l="0" r="0" t="-180" b="-180"/>
          <a:stretch/>
        </p:blipFill>
        <p:spPr>
          <a:xfrm>
            <a:off x="9763049" y="3238805"/>
            <a:ext cx="95098" cy="152705"/>
          </a:xfrm>
          <a:prstGeom prst="rect">
            <a:avLst/>
          </a:prstGeom>
        </p:spPr>
      </p:pic>
      <p:pic>
        <p:nvPicPr>
          <p:cNvPr id="62" name="Image 23" descr="preencoded.png">    </p:cNvPr>
          <p:cNvPicPr>
            <a:picLocks noChangeAspect="1"/>
          </p:cNvPicPr>
          <p:nvPr/>
        </p:nvPicPr>
        <p:blipFill>
          <a:blip r:embed="rId24"/>
          <a:srcRect l="-6" r="-6" t="0" b="0"/>
          <a:stretch/>
        </p:blipFill>
        <p:spPr>
          <a:xfrm>
            <a:off x="9944100" y="2195474"/>
            <a:ext cx="1867205" cy="2238451"/>
          </a:xfrm>
          <a:prstGeom prst="rect">
            <a:avLst/>
          </a:prstGeom>
        </p:spPr>
      </p:pic>
      <p:sp>
        <p:nvSpPr>
          <p:cNvPr id="63" name="Shape 37"/>
          <p:cNvSpPr/>
          <p:nvPr/>
        </p:nvSpPr>
        <p:spPr>
          <a:xfrm>
            <a:off x="10144354" y="2395728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4" name="Image 24" descr="preencoded.png">    </p:cNvPr>
          <p:cNvPicPr>
            <a:picLocks noChangeAspect="1"/>
          </p:cNvPicPr>
          <p:nvPr/>
        </p:nvPicPr>
        <p:blipFill>
          <a:blip r:embed="rId25"/>
          <a:srcRect l="0" r="0" t="-180" b="-180"/>
          <a:stretch/>
        </p:blipFill>
        <p:spPr>
          <a:xfrm>
            <a:off x="10201046" y="2471623"/>
            <a:ext cx="190195" cy="152705"/>
          </a:xfrm>
          <a:prstGeom prst="rect">
            <a:avLst/>
          </a:prstGeom>
        </p:spPr>
      </p:pic>
      <p:sp>
        <p:nvSpPr>
          <p:cNvPr id="65" name="Text 38"/>
          <p:cNvSpPr txBox="1"/>
          <p:nvPr/>
        </p:nvSpPr>
        <p:spPr>
          <a:xfrm>
            <a:off x="11456518" y="2471623"/>
            <a:ext cx="2386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00" dirty="0"/>
          </a:p>
        </p:txBody>
      </p:sp>
      <p:sp>
        <p:nvSpPr>
          <p:cNvPr id="66" name="Text 39"/>
          <p:cNvSpPr txBox="1"/>
          <p:nvPr/>
        </p:nvSpPr>
        <p:spPr>
          <a:xfrm>
            <a:off x="10144354" y="2814523"/>
            <a:ext cx="15709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Comparison Layer</a:t>
            </a:r>
            <a:endParaRPr lang="en-US" sz="1200" dirty="0"/>
          </a:p>
        </p:txBody>
      </p:sp>
      <p:sp>
        <p:nvSpPr>
          <p:cNvPr id="67" name="Text 40"/>
          <p:cNvSpPr txBox="1"/>
          <p:nvPr/>
        </p:nvSpPr>
        <p:spPr>
          <a:xfrm>
            <a:off x="10144354" y="3119018"/>
            <a:ext cx="1526134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Automated diff detection for </a:t>
            </a:r>
            <a:pPr algn="l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</a:t>
            </a:r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</a:t>
            </a:r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or </a:t>
            </a:r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mismatch</a:t>
            </a:r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records. Outputs structured audit logs. 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3047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5000"/>
          </a:blip>
          <a:srcRect l="-38880" r="-38880" t="0" b="0"/>
          <a:stretch/>
        </p:blipFill>
        <p:spPr>
          <a:xfrm>
            <a:off x="0" y="0"/>
            <a:ext cx="3047695" cy="6858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047695" y="0"/>
            <a:ext cx="9144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3504895" y="457200"/>
            <a:ext cx="1790395" cy="228600"/>
          </a:xfrm>
          <a:prstGeom prst="roundRect">
            <a:avLst>
              <a:gd name="adj" fmla="val 400000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3504895" y="457200"/>
            <a:ext cx="1862633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065F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DVE Framework Impact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3504895" y="761695"/>
            <a:ext cx="84207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Accelerating Delivery &amp; Reducing Risk</a:t>
            </a:r>
            <a:endParaRPr lang="en-US" sz="2700" dirty="0"/>
          </a:p>
        </p:txBody>
      </p:sp>
      <p:sp>
        <p:nvSpPr>
          <p:cNvPr id="10" name="Text 6"/>
          <p:cNvSpPr txBox="1"/>
          <p:nvPr/>
        </p:nvSpPr>
        <p:spPr>
          <a:xfrm>
            <a:off x="3504895" y="1266444"/>
            <a:ext cx="83439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Transforming manual validation into an automated strategic advantage.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-7" r="-7" t="0" b="0"/>
          <a:stretch/>
        </p:blipFill>
        <p:spPr>
          <a:xfrm>
            <a:off x="3504895" y="1837944"/>
            <a:ext cx="8229600" cy="224759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866998" y="2143354"/>
            <a:ext cx="262524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Acceleration</a:t>
            </a:r>
            <a:endParaRPr lang="en-US" sz="900" dirty="0"/>
          </a:p>
        </p:txBody>
      </p:sp>
      <p:sp>
        <p:nvSpPr>
          <p:cNvPr id="13" name="Text 8"/>
          <p:cNvSpPr txBox="1"/>
          <p:nvPr/>
        </p:nvSpPr>
        <p:spPr>
          <a:xfrm>
            <a:off x="3866998" y="2371954"/>
            <a:ext cx="11631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80%</a:t>
            </a:r>
            <a:endParaRPr lang="en-US" sz="3600" dirty="0"/>
          </a:p>
        </p:txBody>
      </p:sp>
      <p:sp>
        <p:nvSpPr>
          <p:cNvPr id="14" name="Text 9"/>
          <p:cNvSpPr txBox="1"/>
          <p:nvPr/>
        </p:nvSpPr>
        <p:spPr>
          <a:xfrm>
            <a:off x="5052060" y="2572207"/>
            <a:ext cx="61264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3866998" y="2915107"/>
            <a:ext cx="2600554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cycles compressed from multiple days to hours, enabling faster UAT sign-off and shorter release timelines.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387998" y="2505456"/>
            <a:ext cx="9144" cy="914400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702552" y="2505456"/>
            <a:ext cx="158739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Validation Cycle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10979201" y="2505456"/>
            <a:ext cx="5340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~2 Days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702552" y="2695651"/>
            <a:ext cx="4733849" cy="152705"/>
          </a:xfrm>
          <a:prstGeom prst="roundRect">
            <a:avLst>
              <a:gd name="adj" fmla="val 598802"/>
            </a:avLst>
          </a:prstGeom>
          <a:solidFill>
            <a:srgbClr val="A7F3D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702552" y="2695651"/>
            <a:ext cx="4733849" cy="152705"/>
          </a:xfrm>
          <a:prstGeom prst="roundRect">
            <a:avLst>
              <a:gd name="adj" fmla="val 598802"/>
            </a:avLst>
          </a:prstGeom>
          <a:solidFill>
            <a:srgbClr val="9CA3A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702552" y="3076956"/>
            <a:ext cx="13962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DVE Automated Cycle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10886846" y="3076956"/>
            <a:ext cx="64648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 3 Hours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6702552" y="3267151"/>
            <a:ext cx="4733849" cy="152705"/>
          </a:xfrm>
          <a:prstGeom prst="roundRect">
            <a:avLst>
              <a:gd name="adj" fmla="val 598802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23" b="-123"/>
          <a:stretch/>
        </p:blipFill>
        <p:spPr>
          <a:xfrm>
            <a:off x="6702552" y="3267151"/>
            <a:ext cx="566928" cy="152705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3504895" y="4315054"/>
            <a:ext cx="2590495" cy="2762402"/>
          </a:xfrm>
          <a:prstGeom prst="roundRect">
            <a:avLst>
              <a:gd name="adj" fmla="val 15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743554" y="4552798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rcRect l="-1648" r="-1648" t="0" b="0"/>
          <a:stretch/>
        </p:blipFill>
        <p:spPr>
          <a:xfrm>
            <a:off x="3886200" y="4686300"/>
            <a:ext cx="171907" cy="19019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3743554" y="5162702"/>
            <a:ext cx="219913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Massive Scalability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3743554" y="5505602"/>
            <a:ext cx="2190902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Validates tens of millions of records on demand. Supports growing dataset sizes without linear manual effort.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3743554" y="6524244"/>
            <a:ext cx="2115007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3933749" y="6687007"/>
            <a:ext cx="200893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338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Volume Independent </a:t>
            </a:r>
            <a:endParaRPr lang="en-US" sz="9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743554" y="6705295"/>
            <a:ext cx="114300" cy="114300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6324905" y="4315054"/>
            <a:ext cx="2590495" cy="2762402"/>
          </a:xfrm>
          <a:prstGeom prst="roundRect">
            <a:avLst>
              <a:gd name="adj" fmla="val 15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6562649" y="4552798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696151" y="4686300"/>
            <a:ext cx="190195" cy="190195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6562649" y="5162702"/>
            <a:ext cx="219913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Reduction</a:t>
            </a:r>
            <a:endParaRPr lang="en-US" sz="1300" dirty="0"/>
          </a:p>
        </p:txBody>
      </p:sp>
      <p:sp>
        <p:nvSpPr>
          <p:cNvPr id="37" name="Text 28"/>
          <p:cNvSpPr txBox="1"/>
          <p:nvPr/>
        </p:nvSpPr>
        <p:spPr>
          <a:xfrm>
            <a:off x="6562649" y="5505602"/>
            <a:ext cx="2190902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Eliminates manual parameterization errors. Ensures standardized, auditable, and repeatable test runs.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6562649" y="6524244"/>
            <a:ext cx="2115007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39" name="Text 30"/>
          <p:cNvSpPr txBox="1"/>
          <p:nvPr/>
        </p:nvSpPr>
        <p:spPr>
          <a:xfrm>
            <a:off x="6752844" y="6687007"/>
            <a:ext cx="200893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Audit Ready </a:t>
            </a:r>
            <a:endParaRPr lang="en-US" sz="900" dirty="0"/>
          </a:p>
        </p:txBody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562649" y="6705295"/>
            <a:ext cx="114300" cy="114300"/>
          </a:xfrm>
          <a:prstGeom prst="rect">
            <a:avLst/>
          </a:prstGeom>
        </p:spPr>
      </p:pic>
      <p:sp>
        <p:nvSpPr>
          <p:cNvPr id="41" name="Shape 31"/>
          <p:cNvSpPr/>
          <p:nvPr/>
        </p:nvSpPr>
        <p:spPr>
          <a:xfrm>
            <a:off x="9144000" y="4315054"/>
            <a:ext cx="2590495" cy="2762402"/>
          </a:xfrm>
          <a:prstGeom prst="roundRect">
            <a:avLst>
              <a:gd name="adj" fmla="val 15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Shape 32"/>
          <p:cNvSpPr/>
          <p:nvPr/>
        </p:nvSpPr>
        <p:spPr>
          <a:xfrm>
            <a:off x="9381744" y="4552798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9491472" y="4686300"/>
            <a:ext cx="237744" cy="190195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9381744" y="5162702"/>
            <a:ext cx="219913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Productivity</a:t>
            </a:r>
            <a:endParaRPr lang="en-US" sz="1300" dirty="0"/>
          </a:p>
        </p:txBody>
      </p:sp>
      <p:sp>
        <p:nvSpPr>
          <p:cNvPr id="45" name="Text 34"/>
          <p:cNvSpPr txBox="1"/>
          <p:nvPr/>
        </p:nvSpPr>
        <p:spPr>
          <a:xfrm>
            <a:off x="9381744" y="5505602"/>
            <a:ext cx="2190902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Engineers focus on feature delivery instead of manual testing. Achieves higher testing coverage with less effort.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9381744" y="6524244"/>
            <a:ext cx="2115007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47" name="Text 36"/>
          <p:cNvSpPr txBox="1"/>
          <p:nvPr/>
        </p:nvSpPr>
        <p:spPr>
          <a:xfrm>
            <a:off x="9571939" y="6687007"/>
            <a:ext cx="200893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High Velocity </a:t>
            </a:r>
            <a:endParaRPr lang="en-US" sz="900" dirty="0"/>
          </a:p>
        </p:txBody>
      </p:sp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9381744" y="6705295"/>
            <a:ext cx="114300" cy="114300"/>
          </a:xfrm>
          <a:prstGeom prst="rect">
            <a:avLst/>
          </a:prstGeom>
        </p:spPr>
      </p:pic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450" b="-450"/>
          <a:stretch/>
        </p:blipFill>
        <p:spPr>
          <a:xfrm>
            <a:off x="381305" y="381305"/>
            <a:ext cx="304495" cy="19202"/>
          </a:xfrm>
          <a:prstGeom prst="rect">
            <a:avLst/>
          </a:prstGeom>
        </p:spPr>
      </p:pic>
      <p:sp>
        <p:nvSpPr>
          <p:cNvPr id="50" name="Text 37"/>
          <p:cNvSpPr txBox="1"/>
          <p:nvPr/>
        </p:nvSpPr>
        <p:spPr>
          <a:xfrm>
            <a:off x="381305" y="552298"/>
            <a:ext cx="23774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Analysis</a:t>
            </a:r>
            <a:endParaRPr lang="en-US" sz="900" dirty="0"/>
          </a:p>
        </p:txBody>
      </p:sp>
      <p:sp>
        <p:nvSpPr>
          <p:cNvPr id="51" name="Shape 38"/>
          <p:cNvSpPr/>
          <p:nvPr/>
        </p:nvSpPr>
        <p:spPr>
          <a:xfrm>
            <a:off x="381305" y="4358030"/>
            <a:ext cx="381305" cy="381305"/>
          </a:xfrm>
          <a:prstGeom prst="ellipse">
            <a:avLst/>
          </a:prstGeom>
          <a:solidFill>
            <a:srgbClr val="064E3B"/>
          </a:solidFill>
          <a:ln w="12700">
            <a:solidFill>
              <a:srgbClr val="047857"/>
            </a:solidFill>
            <a:prstDash val="solid"/>
          </a:ln>
        </p:spPr>
      </p:sp>
      <p:pic>
        <p:nvPicPr>
          <p:cNvPr id="52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495605" y="4472330"/>
            <a:ext cx="152705" cy="152705"/>
          </a:xfrm>
          <a:prstGeom prst="rect">
            <a:avLst/>
          </a:prstGeom>
        </p:spPr>
      </p:pic>
      <p:sp>
        <p:nvSpPr>
          <p:cNvPr id="53" name="Text 39"/>
          <p:cNvSpPr txBox="1"/>
          <p:nvPr/>
        </p:nvSpPr>
        <p:spPr>
          <a:xfrm>
            <a:off x="381305" y="4891126"/>
            <a:ext cx="237195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Operational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3F4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Excellence </a:t>
            </a:r>
            <a:endParaRPr lang="en-US" sz="1800" dirty="0"/>
          </a:p>
        </p:txBody>
      </p:sp>
      <p:sp>
        <p:nvSpPr>
          <p:cNvPr id="54" name="Shape 40"/>
          <p:cNvSpPr/>
          <p:nvPr/>
        </p:nvSpPr>
        <p:spPr>
          <a:xfrm>
            <a:off x="381305" y="5615330"/>
            <a:ext cx="19202" cy="56235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55" name="Text 41"/>
          <p:cNvSpPr txBox="1"/>
          <p:nvPr/>
        </p:nvSpPr>
        <p:spPr>
          <a:xfrm>
            <a:off x="514807" y="5615330"/>
            <a:ext cx="2229307" cy="5623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Accelerating delivery velocity while simultaneously reducing operational risk.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2026-02-01T13:17:26Z</dcterms:created>
  <dcterms:modified xsi:type="dcterms:W3CDTF">2026-02-01T13:17:26Z</dcterms:modified>
</cp:coreProperties>
</file>